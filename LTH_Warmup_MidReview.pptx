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input and output (rubric item 1). The model input is an image; the study output is whether a pruned subnetwork still wins at each sparsity, plus the sharpness and correlation measurements that explain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item 2. The pilot ran on Fashion-MNIST because the sandbox had no GPU and could not reach the CIFAR-10 servers; the main study uses CIFAR-10.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item 3: model, dataset and methodology of each paper. Frankle shows the symptom, Liu offers a correlation explanation, Kalra offers a sharpness explanation of warmup. Nobody has tested the two explanations against each other on lottery tickets.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Pilot status: H1 already reproduced in the Conv-4 re-run (tickets win at 0.01 and with warmup, lose at 0.1). H2 is suggestive only: we measured sharpness at step 100, not the full S(t) curve. H3 consistent: with warmup S at step 100 was 0.49–0.55. H4 not tested yet. The gap: Frankle and Carbin left "why warmup?" open. Liu et al. blame weight correlation but never tried warmup. Kalra and Barkeshli explain warmup through sharpness but never looked at pruning. H4 separates the two mechanisms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divergence rule comes from our Conv-4 re-run: at η = 0.1 a ticket diverged, and the pilot script then pruned from NaN weights, which invalidates every later round. In the H4 test the masks come from the warm03 chain and are held fixed, so only the training dynamics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item 4. The table is from the first pilot (η = 0.05 and 0.01); the boxes add the team re-run at η = 0.1. (1) At η = 0.1 without warmup the Conv-4 ticket lost to random reinit and then diverged, which reproduces Frankle and Carbin's failure even in a shallow network; with warmup and at η = 0.01 tickets beat reinit at every sparsity. An earlier dense-only probe at η = 0.1 (stuck at 10%) did not reproduce in the re-run (87.1%), so we no longer report it. (2) Sharpness at initialization shrinks with sparsity, so we measure the stability ratio during training instead. (3) Sharpness at step 100 was about 2.4× higher for the losing ticket than for reinit, which is suggestive for H2, but we only have one time point, not the full S(t) curve. (4) Random reinit collapses at high sparsity without BatchNorm, so we add a layer-wise shuffle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Rubric item 5. If H1 does not replicate on ResNet-20 we stop and report why before spending Phase B compute. Any H4 outcome is a valid finding: sharpness wins, correlation wins, or both contribute.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320040"/>
          </a:xfrm>
          <a:prstGeom prst="rect">
            <a:avLst/>
          </a:prstGeom>
          <a:noFill/>
          <a:ln/>
        </p:spPr>
        <p:txBody>
          <a:bodyPr wrap="square" lIns="0" tIns="0" rIns="0" bIns="0" rtlCol="0" anchor="t"/>
          <a:lstStyle/>
          <a:p>
            <a:pPr indent="0" marL="0">
              <a:buNone/>
            </a:pPr>
            <a:r>
              <a:rPr lang="en-US" sz="1300" b="1" spc="300" kern="0" dirty="0">
                <a:solidFill>
                  <a:srgbClr val="F2A65A"/>
                </a:solidFill>
                <a:latin typeface="Calibri" pitchFamily="34" charset="0"/>
                <a:ea typeface="Calibri" pitchFamily="34" charset="-122"/>
                <a:cs typeface="Calibri" pitchFamily="34" charset="-120"/>
              </a:rPr>
              <a:t>MACHINE LEARNING · COURSE PROJECT MID-REVIEW</a:t>
            </a:r>
            <a:endParaRPr lang="en-US" sz="1300" dirty="0"/>
          </a:p>
        </p:txBody>
      </p:sp>
      <p:sp>
        <p:nvSpPr>
          <p:cNvPr id="3" name="Text 1"/>
          <p:cNvSpPr txBox="1"/>
          <p:nvPr/>
        </p:nvSpPr>
        <p:spPr>
          <a:xfrm>
            <a:off x="548640" y="960120"/>
            <a:ext cx="1024128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Why Do Lottery Tickets Need Learning-Rate Warmup? Sharpness vs. Weight Correlation</a:t>
            </a:r>
            <a:endParaRPr lang="en-US" sz="3800" dirty="0"/>
          </a:p>
        </p:txBody>
      </p:sp>
      <p:sp>
        <p:nvSpPr>
          <p:cNvPr id="4" name="Text 2"/>
          <p:cNvSpPr txBox="1"/>
          <p:nvPr/>
        </p:nvSpPr>
        <p:spPr>
          <a:xfrm>
            <a:off x="548640" y="2606040"/>
            <a:ext cx="9875520" cy="822960"/>
          </a:xfrm>
          <a:prstGeom prst="rect">
            <a:avLst/>
          </a:prstGeom>
          <a:noFill/>
          <a:ln/>
        </p:spPr>
        <p:txBody>
          <a:bodyPr wrap="square" lIns="0" tIns="0" rIns="0" bIns="0" rtlCol="0" anchor="t"/>
          <a:lstStyle/>
          <a:p>
            <a:pPr indent="0" marL="0">
              <a:buNone/>
            </a:pPr>
            <a:r>
              <a:rPr lang="en-US" sz="1700" dirty="0">
                <a:solidFill>
                  <a:srgbClr val="C9D3E3"/>
                </a:solidFill>
                <a:latin typeface="Calibri" pitchFamily="34" charset="0"/>
                <a:ea typeface="Calibri" pitchFamily="34" charset="-122"/>
                <a:cs typeface="Calibri" pitchFamily="34" charset="-120"/>
              </a:rPr>
              <a:t>Testing whether sparse subnetworks fail at high learning rates because training becomes unstable (sharpness), not because weights drift from their initialization.</a:t>
            </a:r>
            <a:endParaRPr lang="en-US" sz="1700" dirty="0"/>
          </a:p>
        </p:txBody>
      </p:sp>
      <p:sp>
        <p:nvSpPr>
          <p:cNvPr id="5" name="Shape 3"/>
          <p:cNvSpPr/>
          <p:nvPr/>
        </p:nvSpPr>
        <p:spPr>
          <a:xfrm>
            <a:off x="548640" y="3749040"/>
            <a:ext cx="5410048" cy="1600200"/>
          </a:xfrm>
          <a:prstGeom prst="roundRect">
            <a:avLst>
              <a:gd name="adj" fmla="val 6857"/>
            </a:avLst>
          </a:prstGeom>
          <a:solidFill>
            <a:srgbClr val="1F2E50"/>
          </a:solidFill>
          <a:ln/>
        </p:spPr>
      </p:sp>
      <p:sp>
        <p:nvSpPr>
          <p:cNvPr id="6" name="Text 4"/>
          <p:cNvSpPr txBox="1"/>
          <p:nvPr/>
        </p:nvSpPr>
        <p:spPr>
          <a:xfrm>
            <a:off x="822960" y="3931920"/>
            <a:ext cx="4861408" cy="274320"/>
          </a:xfrm>
          <a:prstGeom prst="rect">
            <a:avLst/>
          </a:prstGeom>
          <a:noFill/>
          <a:ln/>
        </p:spPr>
        <p:txBody>
          <a:bodyPr wrap="square" lIns="0" tIns="0" rIns="0" bIns="0" rtlCol="0" anchor="t"/>
          <a:lstStyle/>
          <a:p>
            <a:pPr indent="0" marL="0">
              <a:buNone/>
            </a:pPr>
            <a:r>
              <a:rPr lang="en-US" sz="1200" b="1" spc="200" kern="0" dirty="0">
                <a:solidFill>
                  <a:srgbClr val="F2A65A"/>
                </a:solidFill>
                <a:latin typeface="Calibri" pitchFamily="34" charset="0"/>
                <a:ea typeface="Calibri" pitchFamily="34" charset="-122"/>
                <a:cs typeface="Calibri" pitchFamily="34" charset="-120"/>
              </a:rPr>
              <a:t>INPUT</a:t>
            </a:r>
            <a:endParaRPr lang="en-US" sz="1200" dirty="0"/>
          </a:p>
        </p:txBody>
      </p:sp>
      <p:sp>
        <p:nvSpPr>
          <p:cNvPr id="7" name="Text 5"/>
          <p:cNvSpPr txBox="1"/>
          <p:nvPr/>
        </p:nvSpPr>
        <p:spPr>
          <a:xfrm>
            <a:off x="822960" y="4251960"/>
            <a:ext cx="4861408"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CIFAR-10 image, 32×32×3 (pilot: Fashion-MNIST, 28×28×1), plus a pruning mask m and a learning-rate schedule</a:t>
            </a:r>
            <a:endParaRPr lang="en-US" sz="1500" dirty="0"/>
          </a:p>
        </p:txBody>
      </p:sp>
      <p:sp>
        <p:nvSpPr>
          <p:cNvPr id="8" name="Shape 6"/>
          <p:cNvSpPr/>
          <p:nvPr/>
        </p:nvSpPr>
        <p:spPr>
          <a:xfrm>
            <a:off x="6233008" y="3749040"/>
            <a:ext cx="5410048" cy="1600200"/>
          </a:xfrm>
          <a:prstGeom prst="roundRect">
            <a:avLst>
              <a:gd name="adj" fmla="val 6857"/>
            </a:avLst>
          </a:prstGeom>
          <a:solidFill>
            <a:srgbClr val="1F2E50"/>
          </a:solidFill>
          <a:ln/>
        </p:spPr>
      </p:sp>
      <p:sp>
        <p:nvSpPr>
          <p:cNvPr id="9" name="Text 7"/>
          <p:cNvSpPr txBox="1"/>
          <p:nvPr/>
        </p:nvSpPr>
        <p:spPr>
          <a:xfrm>
            <a:off x="6507328" y="3931920"/>
            <a:ext cx="4861408" cy="274320"/>
          </a:xfrm>
          <a:prstGeom prst="rect">
            <a:avLst/>
          </a:prstGeom>
          <a:noFill/>
          <a:ln/>
        </p:spPr>
        <p:txBody>
          <a:bodyPr wrap="square" lIns="0" tIns="0" rIns="0" bIns="0" rtlCol="0" anchor="t"/>
          <a:lstStyle/>
          <a:p>
            <a:pPr indent="0" marL="0">
              <a:buNone/>
            </a:pPr>
            <a:r>
              <a:rPr lang="en-US" sz="1200" b="1" spc="200" kern="0" dirty="0">
                <a:solidFill>
                  <a:srgbClr val="F2A65A"/>
                </a:solidFill>
                <a:latin typeface="Calibri" pitchFamily="34" charset="0"/>
                <a:ea typeface="Calibri" pitchFamily="34" charset="-122"/>
                <a:cs typeface="Calibri" pitchFamily="34" charset="-120"/>
              </a:rPr>
              <a:t>OUTPUT</a:t>
            </a:r>
            <a:endParaRPr lang="en-US" sz="1200" dirty="0"/>
          </a:p>
        </p:txBody>
      </p:sp>
      <p:sp>
        <p:nvSpPr>
          <p:cNvPr id="10" name="Text 8"/>
          <p:cNvSpPr txBox="1"/>
          <p:nvPr/>
        </p:nvSpPr>
        <p:spPr>
          <a:xfrm>
            <a:off x="6507328" y="4251960"/>
            <a:ext cx="4861408" cy="10058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10-class prediction; per sparsity level: ticket vs baseline accuracy, sharpness λmax trajectory, weight correlation Rp</a:t>
            </a:r>
            <a:endParaRPr lang="en-US" sz="1500" dirty="0"/>
          </a:p>
        </p:txBody>
      </p:sp>
      <p:sp>
        <p:nvSpPr>
          <p:cNvPr id="11" name="Text 9"/>
          <p:cNvSpPr txBox="1"/>
          <p:nvPr/>
        </p:nvSpPr>
        <p:spPr>
          <a:xfrm>
            <a:off x="548640" y="5715000"/>
            <a:ext cx="11094415"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Nitai S Koundinya  ·  Umair Ahmed Nawaz</a:t>
            </a:r>
            <a:endParaRPr lang="en-US" sz="1600" dirty="0"/>
          </a:p>
        </p:txBody>
      </p:sp>
      <p:sp>
        <p:nvSpPr>
          <p:cNvPr id="12" name="Text 10"/>
          <p:cNvSpPr txBox="1"/>
          <p:nvPr/>
        </p:nvSpPr>
        <p:spPr>
          <a:xfrm>
            <a:off x="548640" y="6080760"/>
            <a:ext cx="11094415" cy="320040"/>
          </a:xfrm>
          <a:prstGeom prst="rect">
            <a:avLst/>
          </a:prstGeom>
          <a:noFill/>
          <a:ln/>
        </p:spPr>
        <p:txBody>
          <a:bodyPr wrap="square" lIns="0" tIns="0" rIns="0" bIns="0" rtlCol="0" anchor="t"/>
          <a:lstStyle/>
          <a:p>
            <a:pPr indent="0" marL="0">
              <a:buNone/>
            </a:pPr>
            <a:r>
              <a:rPr lang="en-US" sz="1200" dirty="0">
                <a:solidFill>
                  <a:srgbClr val="9FB0CC"/>
                </a:solidFill>
                <a:latin typeface="Calibri" pitchFamily="34" charset="0"/>
                <a:ea typeface="Calibri" pitchFamily="34" charset="-122"/>
                <a:cs typeface="Calibri" pitchFamily="34" charset="-120"/>
              </a:rPr>
              <a:t>28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274320"/>
          </a:xfrm>
          <a:prstGeom prst="rect">
            <a:avLst/>
          </a:prstGeom>
          <a:noFill/>
          <a:ln/>
        </p:spPr>
        <p:txBody>
          <a:bodyPr wrap="square" lIns="0" tIns="0" rIns="0" bIns="0" rtlCol="0" anchor="t"/>
          <a:lstStyle/>
          <a:p>
            <a:pPr indent="0" marL="0">
              <a:buNone/>
            </a:pPr>
            <a:r>
              <a:rPr lang="en-US" sz="1200" b="1" spc="300" kern="0" dirty="0">
                <a:solidFill>
                  <a:srgbClr val="B5651D"/>
                </a:solidFill>
                <a:latin typeface="Calibri" pitchFamily="34" charset="0"/>
                <a:ea typeface="Calibri" pitchFamily="34" charset="-122"/>
                <a:cs typeface="Calibri" pitchFamily="34" charset="-120"/>
              </a:rPr>
              <a:t>DATASET DETAILS</a:t>
            </a:r>
            <a:endParaRPr lang="en-US" sz="1200" dirty="0"/>
          </a:p>
        </p:txBody>
      </p:sp>
      <p:sp>
        <p:nvSpPr>
          <p:cNvPr id="3" name="Text 1"/>
          <p:cNvSpPr txBox="1"/>
          <p:nvPr/>
        </p:nvSpPr>
        <p:spPr>
          <a:xfrm>
            <a:off x="548640" y="731520"/>
            <a:ext cx="11094415" cy="68580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CIFAR-10 for the study, Fashion-MNIST for the CPU pilot</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377440"/>
                <a:gridCol w="4343400"/>
                <a:gridCol w="4370832"/>
              </a:tblGrid>
              <a:tr h="47548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Property</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CIFAR-10 (main study)</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Fashion-MNIST (pilot)</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14213D"/>
                    </a:solidFill>
                  </a:tcPr>
                </a:tc>
              </a:tr>
              <a:tr h="475488">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Total images</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60,000</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70,000</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Train / test split</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50,000 / 10,000 (45k train + 5k validation)</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60,000 / 10,000 (pilot: 15k train subset)</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r>
              <a:tr h="475488">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Image dimension</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32 × 32 × 3 (RGB)</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28 × 28 × 1 (grayscale)</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Independent variables</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3,072 pixel values per image</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784 pixel values per image</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r>
              <a:tr h="475488">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Categories</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10: airplane, car, bird, cat, deer, dog, frog, horse, ship, truck</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10: T-shirt, trouser, pullover, dress, coat, sandal, shirt, sneaker, bag, ankle boot</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Class balance</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Balanced, 6,000 per class</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Balanced, 7,000 per class</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r>
              <a:tr h="475488">
                <a:tc>
                  <a:txBody>
                    <a:bodyPr/>
                    <a:lstStyle/>
                    <a:p>
                      <a:pPr indent="0" marL="0">
                        <a:buNone/>
                      </a:pPr>
                      <a:r>
                        <a:rPr lang="en-US" sz="1300" b="1" dirty="0">
                          <a:solidFill>
                            <a:srgbClr val="14213D"/>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ResNet-20 with BatchNorm, ~0.27M params</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Conv-4 (no BatchNorm), ~0.22M params</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6263640"/>
            <a:ext cx="10545775" cy="320040"/>
          </a:xfrm>
          <a:prstGeom prst="rect">
            <a:avLst/>
          </a:prstGeom>
          <a:noFill/>
          <a:ln/>
        </p:spPr>
        <p:txBody>
          <a:bodyPr wrap="square" lIns="0" tIns="0" rIns="0" bIns="0" rtlCol="0" anchor="b"/>
          <a:lstStyle/>
          <a:p>
            <a:pPr indent="0" marL="0">
              <a:buNone/>
            </a:pPr>
            <a:r>
              <a:rPr lang="en-US" sz="1100" dirty="0">
                <a:solidFill>
                  <a:srgbClr val="5A6478"/>
                </a:solidFill>
                <a:latin typeface="Calibri" pitchFamily="34" charset="0"/>
                <a:ea typeface="Calibri" pitchFamily="34" charset="-122"/>
                <a:cs typeface="Calibri" pitchFamily="34" charset="-120"/>
              </a:rPr>
              <a:t>CIFAR-10 is the benchmark used by Frankle &amp; Carbin (2019) and Liu et al. (2021), so results compare directly with theirs.</a:t>
            </a:r>
            <a:endParaRPr lang="en-US" sz="1100" dirty="0"/>
          </a:p>
        </p:txBody>
      </p:sp>
      <p:sp>
        <p:nvSpPr>
          <p:cNvPr id="6" name="Text 3"/>
          <p:cNvSpPr txBox="1"/>
          <p:nvPr/>
        </p:nvSpPr>
        <p:spPr>
          <a:xfrm>
            <a:off x="11185855" y="6263640"/>
            <a:ext cx="457200" cy="320040"/>
          </a:xfrm>
          <a:prstGeom prst="rect">
            <a:avLst/>
          </a:prstGeom>
          <a:noFill/>
          <a:ln/>
        </p:spPr>
        <p:txBody>
          <a:bodyPr wrap="square" lIns="0" tIns="0" rIns="0" bIns="0" rtlCol="0" anchor="b"/>
          <a:lstStyle/>
          <a:p>
            <a:pPr algn="r" indent="0" marL="0">
              <a:buNone/>
            </a:pPr>
            <a:r>
              <a:rPr lang="en-US" sz="1100" dirty="0">
                <a:solidFill>
                  <a:srgbClr val="5A6478"/>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274320"/>
          </a:xfrm>
          <a:prstGeom prst="rect">
            <a:avLst/>
          </a:prstGeom>
          <a:noFill/>
          <a:ln/>
        </p:spPr>
        <p:txBody>
          <a:bodyPr wrap="square" lIns="0" tIns="0" rIns="0" bIns="0" rtlCol="0" anchor="t"/>
          <a:lstStyle/>
          <a:p>
            <a:pPr indent="0" marL="0">
              <a:buNone/>
            </a:pPr>
            <a:r>
              <a:rPr lang="en-US" sz="1200" b="1" spc="300" kern="0" dirty="0">
                <a:solidFill>
                  <a:srgbClr val="B5651D"/>
                </a:solidFill>
                <a:latin typeface="Calibri" pitchFamily="34" charset="0"/>
                <a:ea typeface="Calibri" pitchFamily="34" charset="-122"/>
                <a:cs typeface="Calibri" pitchFamily="34" charset="-120"/>
              </a:rPr>
              <a:t>LITERATURE SURVEY &amp; MODELS</a:t>
            </a:r>
            <a:endParaRPr lang="en-US" sz="1200" dirty="0"/>
          </a:p>
        </p:txBody>
      </p:sp>
      <p:sp>
        <p:nvSpPr>
          <p:cNvPr id="3" name="Text 1"/>
          <p:cNvSpPr txBox="1"/>
          <p:nvPr/>
        </p:nvSpPr>
        <p:spPr>
          <a:xfrm>
            <a:off x="548640" y="731520"/>
            <a:ext cx="11094415" cy="68580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Three papers, three views of the same failure</a:t>
            </a:r>
            <a:endParaRPr lang="en-US" sz="2800" dirty="0"/>
          </a:p>
        </p:txBody>
      </p:sp>
      <p:sp>
        <p:nvSpPr>
          <p:cNvPr id="4" name="Shape 2"/>
          <p:cNvSpPr/>
          <p:nvPr/>
        </p:nvSpPr>
        <p:spPr>
          <a:xfrm>
            <a:off x="548640" y="1600200"/>
            <a:ext cx="3545738" cy="4434840"/>
          </a:xfrm>
          <a:prstGeom prst="roundRect">
            <a:avLst>
              <a:gd name="adj" fmla="val 3095"/>
            </a:avLst>
          </a:prstGeom>
          <a:solidFill>
            <a:srgbClr val="F3F5F9"/>
          </a:solidFill>
          <a:ln/>
        </p:spPr>
      </p:sp>
      <p:sp>
        <p:nvSpPr>
          <p:cNvPr id="5" name="Text 3"/>
          <p:cNvSpPr txBox="1"/>
          <p:nvPr/>
        </p:nvSpPr>
        <p:spPr>
          <a:xfrm>
            <a:off x="777240" y="1801368"/>
            <a:ext cx="3088538" cy="54864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Frankle &amp; Carbin · ICLR 2019</a:t>
            </a:r>
            <a:endParaRPr lang="en-US" sz="1700" dirty="0"/>
          </a:p>
        </p:txBody>
      </p:sp>
      <p:sp>
        <p:nvSpPr>
          <p:cNvPr id="6" name="Text 4"/>
          <p:cNvSpPr txBox="1"/>
          <p:nvPr/>
        </p:nvSpPr>
        <p:spPr>
          <a:xfrm>
            <a:off x="777240" y="2468880"/>
            <a:ext cx="3088538" cy="2377440"/>
          </a:xfrm>
          <a:prstGeom prst="rect">
            <a:avLst/>
          </a:prstGeom>
          <a:noFill/>
          <a:ln/>
        </p:spPr>
        <p:txBody>
          <a:bodyPr wrap="square" lIns="0" tIns="0" rIns="0" bIns="0" rtlCol="0" anchor="t"/>
          <a:lstStyle/>
          <a:p>
            <a:pPr indent="0" marL="0">
              <a:spcAft>
                <a:spcPts val="800"/>
              </a:spcAft>
              <a:buNone/>
            </a:pPr>
            <a:r>
              <a:rPr lang="en-US" sz="1300" b="1" dirty="0">
                <a:solidFill>
                  <a:srgbClr val="14213D"/>
                </a:solidFill>
                <a:latin typeface="Calibri" pitchFamily="34" charset="0"/>
                <a:ea typeface="Calibri" pitchFamily="34" charset="-122"/>
                <a:cs typeface="Calibri" pitchFamily="34" charset="-120"/>
              </a:rPr>
              <a:t>Models: </a:t>
            </a:r>
            <a:pPr indent="0" marL="0">
              <a:spcAft>
                <a:spcPts val="800"/>
              </a:spcAft>
              <a:buNone/>
            </a:pPr>
            <a:r>
              <a:rPr lang="en-US" sz="1300" dirty="0">
                <a:solidFill>
                  <a:srgbClr val="14213D"/>
                </a:solidFill>
                <a:latin typeface="Calibri" pitchFamily="34" charset="0"/>
                <a:ea typeface="Calibri" pitchFamily="34" charset="-122"/>
                <a:cs typeface="Calibri" pitchFamily="34" charset="-120"/>
              </a:rPr>
              <a:t>LeNet-300-100, Conv-2/4/6, VGG-19, ResNet-18 (CIFAR variant)</a:t>
            </a:r>
            <a:endParaRPr lang="en-US" sz="1300" dirty="0"/>
          </a:p>
          <a:p>
            <a:pPr indent="0" marL="0">
              <a:spcAft>
                <a:spcPts val="800"/>
              </a:spcAft>
              <a:buNone/>
            </a:pPr>
            <a:r>
              <a:rPr lang="en-US" sz="1300" b="1" dirty="0">
                <a:solidFill>
                  <a:srgbClr val="14213D"/>
                </a:solidFill>
                <a:latin typeface="Calibri" pitchFamily="34" charset="0"/>
                <a:ea typeface="Calibri" pitchFamily="34" charset="-122"/>
                <a:cs typeface="Calibri" pitchFamily="34" charset="-120"/>
              </a:rPr>
              <a:t>Data: </a:t>
            </a:r>
            <a:pPr indent="0" marL="0">
              <a:spcAft>
                <a:spcPts val="800"/>
              </a:spcAft>
              <a:buNone/>
            </a:pPr>
            <a:r>
              <a:rPr lang="en-US" sz="1300" dirty="0">
                <a:solidFill>
                  <a:srgbClr val="14213D"/>
                </a:solidFill>
                <a:latin typeface="Calibri" pitchFamily="34" charset="0"/>
                <a:ea typeface="Calibri" pitchFamily="34" charset="-122"/>
                <a:cs typeface="Calibri" pitchFamily="34" charset="-120"/>
              </a:rPr>
              <a:t>MNIST, CIFAR-10</a:t>
            </a:r>
            <a:endParaRPr lang="en-US" sz="1300" dirty="0"/>
          </a:p>
          <a:p>
            <a:pPr indent="0" marL="0">
              <a:spcAft>
                <a:spcPts val="800"/>
              </a:spcAft>
              <a:buNone/>
            </a:pPr>
            <a:r>
              <a:rPr lang="en-US" sz="1300" b="1" dirty="0">
                <a:solidFill>
                  <a:srgbClr val="14213D"/>
                </a:solidFill>
                <a:latin typeface="Calibri" pitchFamily="34" charset="0"/>
                <a:ea typeface="Calibri" pitchFamily="34" charset="-122"/>
                <a:cs typeface="Calibri" pitchFamily="34" charset="-120"/>
              </a:rPr>
              <a:t>Method: </a:t>
            </a:r>
            <a:pPr indent="0" marL="0">
              <a:spcAft>
                <a:spcPts val="800"/>
              </a:spcAft>
              <a:buNone/>
            </a:pPr>
            <a:r>
              <a:rPr lang="en-US" sz="1300" dirty="0">
                <a:solidFill>
                  <a:srgbClr val="14213D"/>
                </a:solidFill>
                <a:latin typeface="Calibri" pitchFamily="34" charset="0"/>
                <a:ea typeface="Calibri" pitchFamily="34" charset="-122"/>
                <a:cs typeface="Calibri" pitchFamily="34" charset="-120"/>
              </a:rPr>
              <a:t>Iterative magnitude pruning; reset survivors to θ0; compare with random reinit</a:t>
            </a:r>
            <a:endParaRPr lang="en-US" sz="1300" dirty="0"/>
          </a:p>
        </p:txBody>
      </p:sp>
      <p:sp>
        <p:nvSpPr>
          <p:cNvPr id="7" name="Text 5"/>
          <p:cNvSpPr txBox="1"/>
          <p:nvPr/>
        </p:nvSpPr>
        <p:spPr>
          <a:xfrm>
            <a:off x="777240" y="4892040"/>
            <a:ext cx="3088538" cy="1005840"/>
          </a:xfrm>
          <a:prstGeom prst="rect">
            <a:avLst/>
          </a:prstGeom>
          <a:noFill/>
          <a:ln/>
        </p:spPr>
        <p:txBody>
          <a:bodyPr wrap="square" lIns="0" tIns="0" rIns="0" bIns="0" rtlCol="0" anchor="t"/>
          <a:lstStyle/>
          <a:p>
            <a:pPr indent="0" marL="0">
              <a:buNone/>
            </a:pPr>
            <a:r>
              <a:rPr lang="en-US" sz="1300" b="1" dirty="0">
                <a:solidFill>
                  <a:srgbClr val="B5651D"/>
                </a:solidFill>
                <a:latin typeface="Calibri" pitchFamily="34" charset="0"/>
                <a:ea typeface="Calibri" pitchFamily="34" charset="-122"/>
                <a:cs typeface="Calibri" pitchFamily="34" charset="-120"/>
              </a:rPr>
              <a:t>Key point: </a:t>
            </a:r>
            <a:pPr indent="0" marL="0">
              <a:buNone/>
            </a:pPr>
            <a:r>
              <a:rPr lang="en-US" sz="1300" dirty="0">
                <a:solidFill>
                  <a:srgbClr val="B5651D"/>
                </a:solidFill>
                <a:latin typeface="Calibri" pitchFamily="34" charset="0"/>
                <a:ea typeface="Calibri" pitchFamily="34" charset="-122"/>
                <a:cs typeface="Calibri" pitchFamily="34" charset="-120"/>
              </a:rPr>
              <a:t>Deep nets find tickets only at lr 0.01 or with warmup. "Why warmup?" left open.</a:t>
            </a:r>
            <a:endParaRPr lang="en-US" sz="1300" dirty="0"/>
          </a:p>
        </p:txBody>
      </p:sp>
      <p:sp>
        <p:nvSpPr>
          <p:cNvPr id="8" name="Shape 6"/>
          <p:cNvSpPr/>
          <p:nvPr/>
        </p:nvSpPr>
        <p:spPr>
          <a:xfrm>
            <a:off x="4322978" y="1600200"/>
            <a:ext cx="3545738" cy="4434840"/>
          </a:xfrm>
          <a:prstGeom prst="roundRect">
            <a:avLst>
              <a:gd name="adj" fmla="val 3095"/>
            </a:avLst>
          </a:prstGeom>
          <a:solidFill>
            <a:srgbClr val="F3F5F9"/>
          </a:solidFill>
          <a:ln/>
        </p:spPr>
      </p:sp>
      <p:sp>
        <p:nvSpPr>
          <p:cNvPr id="9" name="Text 7"/>
          <p:cNvSpPr txBox="1"/>
          <p:nvPr/>
        </p:nvSpPr>
        <p:spPr>
          <a:xfrm>
            <a:off x="4551578" y="1801368"/>
            <a:ext cx="3088538" cy="54864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Liu et al. · ICML 2021</a:t>
            </a:r>
            <a:endParaRPr lang="en-US" sz="1700" dirty="0"/>
          </a:p>
        </p:txBody>
      </p:sp>
      <p:sp>
        <p:nvSpPr>
          <p:cNvPr id="10" name="Text 8"/>
          <p:cNvSpPr txBox="1"/>
          <p:nvPr/>
        </p:nvSpPr>
        <p:spPr>
          <a:xfrm>
            <a:off x="4551578" y="2468880"/>
            <a:ext cx="3088538" cy="2377440"/>
          </a:xfrm>
          <a:prstGeom prst="rect">
            <a:avLst/>
          </a:prstGeom>
          <a:noFill/>
          <a:ln/>
        </p:spPr>
        <p:txBody>
          <a:bodyPr wrap="square" lIns="0" tIns="0" rIns="0" bIns="0" rtlCol="0" anchor="t"/>
          <a:lstStyle/>
          <a:p>
            <a:pPr indent="0" marL="0">
              <a:spcAft>
                <a:spcPts val="800"/>
              </a:spcAft>
              <a:buNone/>
            </a:pPr>
            <a:r>
              <a:rPr lang="en-US" sz="1300" b="1" dirty="0">
                <a:solidFill>
                  <a:srgbClr val="14213D"/>
                </a:solidFill>
                <a:latin typeface="Calibri" pitchFamily="34" charset="0"/>
                <a:ea typeface="Calibri" pitchFamily="34" charset="-122"/>
                <a:cs typeface="Calibri" pitchFamily="34" charset="-120"/>
              </a:rPr>
              <a:t>Models: </a:t>
            </a:r>
            <a:pPr indent="0" marL="0">
              <a:spcAft>
                <a:spcPts val="800"/>
              </a:spcAft>
              <a:buNone/>
            </a:pPr>
            <a:r>
              <a:rPr lang="en-US" sz="1300" dirty="0">
                <a:solidFill>
                  <a:srgbClr val="14213D"/>
                </a:solidFill>
                <a:latin typeface="Calibri" pitchFamily="34" charset="0"/>
                <a:ea typeface="Calibri" pitchFamily="34" charset="-122"/>
                <a:cs typeface="Calibri" pitchFamily="34" charset="-120"/>
              </a:rPr>
              <a:t>VGG-11, ResNet-20, MobileNet-V2</a:t>
            </a:r>
            <a:endParaRPr lang="en-US" sz="1300" dirty="0"/>
          </a:p>
          <a:p>
            <a:pPr indent="0" marL="0">
              <a:spcAft>
                <a:spcPts val="800"/>
              </a:spcAft>
              <a:buNone/>
            </a:pPr>
            <a:r>
              <a:rPr lang="en-US" sz="1300" b="1" dirty="0">
                <a:solidFill>
                  <a:srgbClr val="14213D"/>
                </a:solidFill>
                <a:latin typeface="Calibri" pitchFamily="34" charset="0"/>
                <a:ea typeface="Calibri" pitchFamily="34" charset="-122"/>
                <a:cs typeface="Calibri" pitchFamily="34" charset="-120"/>
              </a:rPr>
              <a:t>Data: </a:t>
            </a:r>
            <a:pPr indent="0" marL="0">
              <a:spcAft>
                <a:spcPts val="800"/>
              </a:spcAft>
              <a:buNone/>
            </a:pPr>
            <a:r>
              <a:rPr lang="en-US" sz="1300" dirty="0">
                <a:solidFill>
                  <a:srgbClr val="14213D"/>
                </a:solidFill>
                <a:latin typeface="Calibri" pitchFamily="34" charset="0"/>
                <a:ea typeface="Calibri" pitchFamily="34" charset="-122"/>
                <a:cs typeface="Calibri" pitchFamily="34" charset="-120"/>
              </a:rPr>
              <a:t>CIFAR-10, CIFAR-100</a:t>
            </a:r>
            <a:endParaRPr lang="en-US" sz="1300" dirty="0"/>
          </a:p>
          <a:p>
            <a:pPr indent="0" marL="0">
              <a:spcAft>
                <a:spcPts val="800"/>
              </a:spcAft>
              <a:buNone/>
            </a:pPr>
            <a:r>
              <a:rPr lang="en-US" sz="1300" b="1" dirty="0">
                <a:solidFill>
                  <a:srgbClr val="14213D"/>
                </a:solidFill>
                <a:latin typeface="Calibri" pitchFamily="34" charset="0"/>
                <a:ea typeface="Calibri" pitchFamily="34" charset="-122"/>
                <a:cs typeface="Calibri" pitchFamily="34" charset="-120"/>
              </a:rPr>
              <a:t>Method: </a:t>
            </a:r>
            <a:pPr indent="0" marL="0">
              <a:spcAft>
                <a:spcPts val="800"/>
              </a:spcAft>
              <a:buNone/>
            </a:pPr>
            <a:r>
              <a:rPr lang="en-US" sz="1300" dirty="0">
                <a:solidFill>
                  <a:srgbClr val="14213D"/>
                </a:solidFill>
                <a:latin typeface="Calibri" pitchFamily="34" charset="0"/>
                <a:ea typeface="Calibri" pitchFamily="34" charset="-122"/>
                <a:cs typeface="Calibri" pitchFamily="34" charset="-120"/>
              </a:rPr>
              <a:t>Overlap ratio Rp between top-p weights of θ0 and θT; IMP, ADMM and one-shot masks; pruning + fine-tuning</a:t>
            </a:r>
            <a:endParaRPr lang="en-US" sz="1300" dirty="0"/>
          </a:p>
        </p:txBody>
      </p:sp>
      <p:sp>
        <p:nvSpPr>
          <p:cNvPr id="11" name="Text 9"/>
          <p:cNvSpPr txBox="1"/>
          <p:nvPr/>
        </p:nvSpPr>
        <p:spPr>
          <a:xfrm>
            <a:off x="4551578" y="4892040"/>
            <a:ext cx="3088538" cy="1005840"/>
          </a:xfrm>
          <a:prstGeom prst="rect">
            <a:avLst/>
          </a:prstGeom>
          <a:noFill/>
          <a:ln/>
        </p:spPr>
        <p:txBody>
          <a:bodyPr wrap="square" lIns="0" tIns="0" rIns="0" bIns="0" rtlCol="0" anchor="t"/>
          <a:lstStyle/>
          <a:p>
            <a:pPr indent="0" marL="0">
              <a:buNone/>
            </a:pPr>
            <a:r>
              <a:rPr lang="en-US" sz="1300" b="1" dirty="0">
                <a:solidFill>
                  <a:srgbClr val="B5651D"/>
                </a:solidFill>
                <a:latin typeface="Calibri" pitchFamily="34" charset="0"/>
                <a:ea typeface="Calibri" pitchFamily="34" charset="-122"/>
                <a:cs typeface="Calibri" pitchFamily="34" charset="-120"/>
              </a:rPr>
              <a:t>Key point: </a:t>
            </a:r>
            <a:pPr indent="0" marL="0">
              <a:buNone/>
            </a:pPr>
            <a:r>
              <a:rPr lang="en-US" sz="1300" dirty="0">
                <a:solidFill>
                  <a:srgbClr val="B5651D"/>
                </a:solidFill>
                <a:latin typeface="Calibri" pitchFamily="34" charset="0"/>
                <a:ea typeface="Calibri" pitchFamily="34" charset="-122"/>
                <a:cs typeface="Calibri" pitchFamily="34" charset="-120"/>
              </a:rPr>
              <a:t>Tickets exist only when low lr keeps θT correlated with θ0. Warmup never tested.</a:t>
            </a:r>
            <a:endParaRPr lang="en-US" sz="1300" dirty="0"/>
          </a:p>
        </p:txBody>
      </p:sp>
      <p:sp>
        <p:nvSpPr>
          <p:cNvPr id="12" name="Shape 10"/>
          <p:cNvSpPr/>
          <p:nvPr/>
        </p:nvSpPr>
        <p:spPr>
          <a:xfrm>
            <a:off x="8097317" y="1600200"/>
            <a:ext cx="3545738" cy="4434840"/>
          </a:xfrm>
          <a:prstGeom prst="roundRect">
            <a:avLst>
              <a:gd name="adj" fmla="val 3095"/>
            </a:avLst>
          </a:prstGeom>
          <a:solidFill>
            <a:srgbClr val="F3F5F9"/>
          </a:solidFill>
          <a:ln/>
        </p:spPr>
      </p:sp>
      <p:sp>
        <p:nvSpPr>
          <p:cNvPr id="13" name="Text 11"/>
          <p:cNvSpPr txBox="1"/>
          <p:nvPr/>
        </p:nvSpPr>
        <p:spPr>
          <a:xfrm>
            <a:off x="8325917" y="1801368"/>
            <a:ext cx="3088538" cy="548640"/>
          </a:xfrm>
          <a:prstGeom prst="rect">
            <a:avLst/>
          </a:prstGeom>
          <a:noFill/>
          <a:ln/>
        </p:spPr>
        <p:txBody>
          <a:bodyPr wrap="square" lIns="0" tIns="0" rIns="0" bIns="0" rtlCol="0" anchor="t"/>
          <a:lstStyle/>
          <a:p>
            <a:pPr indent="0" marL="0">
              <a:buNone/>
            </a:pPr>
            <a:r>
              <a:rPr lang="en-US" sz="1700" b="1" dirty="0">
                <a:solidFill>
                  <a:srgbClr val="14213D"/>
                </a:solidFill>
                <a:latin typeface="Cambria" pitchFamily="34" charset="0"/>
                <a:ea typeface="Cambria" pitchFamily="34" charset="-122"/>
                <a:cs typeface="Cambria" pitchFamily="34" charset="-120"/>
              </a:rPr>
              <a:t>Kalra &amp; Barkeshli · NeurIPS 2024</a:t>
            </a:r>
            <a:endParaRPr lang="en-US" sz="1700" dirty="0"/>
          </a:p>
        </p:txBody>
      </p:sp>
      <p:sp>
        <p:nvSpPr>
          <p:cNvPr id="14" name="Text 12"/>
          <p:cNvSpPr txBox="1"/>
          <p:nvPr/>
        </p:nvSpPr>
        <p:spPr>
          <a:xfrm>
            <a:off x="8325917" y="2468880"/>
            <a:ext cx="3088538" cy="2377440"/>
          </a:xfrm>
          <a:prstGeom prst="rect">
            <a:avLst/>
          </a:prstGeom>
          <a:noFill/>
          <a:ln/>
        </p:spPr>
        <p:txBody>
          <a:bodyPr wrap="square" lIns="0" tIns="0" rIns="0" bIns="0" rtlCol="0" anchor="t"/>
          <a:lstStyle/>
          <a:p>
            <a:pPr indent="0" marL="0">
              <a:spcAft>
                <a:spcPts val="800"/>
              </a:spcAft>
              <a:buNone/>
            </a:pPr>
            <a:r>
              <a:rPr lang="en-US" sz="1300" b="1" dirty="0">
                <a:solidFill>
                  <a:srgbClr val="14213D"/>
                </a:solidFill>
                <a:latin typeface="Calibri" pitchFamily="34" charset="0"/>
                <a:ea typeface="Calibri" pitchFamily="34" charset="-122"/>
                <a:cs typeface="Calibri" pitchFamily="34" charset="-120"/>
              </a:rPr>
              <a:t>Models: </a:t>
            </a:r>
            <a:pPr indent="0" marL="0">
              <a:spcAft>
                <a:spcPts val="800"/>
              </a:spcAft>
              <a:buNone/>
            </a:pPr>
            <a:r>
              <a:rPr lang="en-US" sz="1300" dirty="0">
                <a:solidFill>
                  <a:srgbClr val="14213D"/>
                </a:solidFill>
                <a:latin typeface="Calibri" pitchFamily="34" charset="0"/>
                <a:ea typeface="Calibri" pitchFamily="34" charset="-122"/>
                <a:cs typeface="Calibri" pitchFamily="34" charset="-120"/>
              </a:rPr>
              <a:t>FCNs, ResNets, Transformers; SGD and Adam</a:t>
            </a:r>
            <a:endParaRPr lang="en-US" sz="1300" dirty="0"/>
          </a:p>
          <a:p>
            <a:pPr indent="0" marL="0">
              <a:spcAft>
                <a:spcPts val="800"/>
              </a:spcAft>
              <a:buNone/>
            </a:pPr>
            <a:r>
              <a:rPr lang="en-US" sz="1300" b="1" dirty="0">
                <a:solidFill>
                  <a:srgbClr val="14213D"/>
                </a:solidFill>
                <a:latin typeface="Calibri" pitchFamily="34" charset="0"/>
                <a:ea typeface="Calibri" pitchFamily="34" charset="-122"/>
                <a:cs typeface="Calibri" pitchFamily="34" charset="-120"/>
              </a:rPr>
              <a:t>Data: </a:t>
            </a:r>
            <a:pPr indent="0" marL="0">
              <a:spcAft>
                <a:spcPts val="800"/>
              </a:spcAft>
              <a:buNone/>
            </a:pPr>
            <a:r>
              <a:rPr lang="en-US" sz="1300" dirty="0">
                <a:solidFill>
                  <a:srgbClr val="14213D"/>
                </a:solidFill>
                <a:latin typeface="Calibri" pitchFamily="34" charset="0"/>
                <a:ea typeface="Calibri" pitchFamily="34" charset="-122"/>
                <a:cs typeface="Calibri" pitchFamily="34" charset="-120"/>
              </a:rPr>
              <a:t>CIFAR-10, CIFAR-100, TinyImageNet, WikiText</a:t>
            </a:r>
            <a:endParaRPr lang="en-US" sz="1300" dirty="0"/>
          </a:p>
          <a:p>
            <a:pPr indent="0" marL="0">
              <a:spcAft>
                <a:spcPts val="800"/>
              </a:spcAft>
              <a:buNone/>
            </a:pPr>
            <a:r>
              <a:rPr lang="en-US" sz="1300" b="1" dirty="0">
                <a:solidFill>
                  <a:srgbClr val="14213D"/>
                </a:solidFill>
                <a:latin typeface="Calibri" pitchFamily="34" charset="0"/>
                <a:ea typeface="Calibri" pitchFamily="34" charset="-122"/>
                <a:cs typeface="Calibri" pitchFamily="34" charset="-120"/>
              </a:rPr>
              <a:t>Method: </a:t>
            </a:r>
            <a:pPr indent="0" marL="0">
              <a:spcAft>
                <a:spcPts val="800"/>
              </a:spcAft>
              <a:buNone/>
            </a:pPr>
            <a:r>
              <a:rPr lang="en-US" sz="1300" dirty="0">
                <a:solidFill>
                  <a:srgbClr val="14213D"/>
                </a:solidFill>
                <a:latin typeface="Calibri" pitchFamily="34" charset="0"/>
                <a:ea typeface="Calibri" pitchFamily="34" charset="-122"/>
                <a:cs typeface="Calibri" pitchFamily="34" charset="-120"/>
              </a:rPr>
              <a:t>Track sharpness λmax (top Hessian eigenvalue) against the stability limit 2/η during warmup</a:t>
            </a:r>
            <a:endParaRPr lang="en-US" sz="1300" dirty="0"/>
          </a:p>
        </p:txBody>
      </p:sp>
      <p:sp>
        <p:nvSpPr>
          <p:cNvPr id="15" name="Text 13"/>
          <p:cNvSpPr txBox="1"/>
          <p:nvPr/>
        </p:nvSpPr>
        <p:spPr>
          <a:xfrm>
            <a:off x="8325917" y="4892040"/>
            <a:ext cx="3088538" cy="1005840"/>
          </a:xfrm>
          <a:prstGeom prst="rect">
            <a:avLst/>
          </a:prstGeom>
          <a:noFill/>
          <a:ln/>
        </p:spPr>
        <p:txBody>
          <a:bodyPr wrap="square" lIns="0" tIns="0" rIns="0" bIns="0" rtlCol="0" anchor="t"/>
          <a:lstStyle/>
          <a:p>
            <a:pPr indent="0" marL="0">
              <a:buNone/>
            </a:pPr>
            <a:r>
              <a:rPr lang="en-US" sz="1300" b="1" dirty="0">
                <a:solidFill>
                  <a:srgbClr val="B5651D"/>
                </a:solidFill>
                <a:latin typeface="Calibri" pitchFamily="34" charset="0"/>
                <a:ea typeface="Calibri" pitchFamily="34" charset="-122"/>
                <a:cs typeface="Calibri" pitchFamily="34" charset="-120"/>
              </a:rPr>
              <a:t>Key point: </a:t>
            </a:r>
            <a:pPr indent="0" marL="0">
              <a:buNone/>
            </a:pPr>
            <a:r>
              <a:rPr lang="en-US" sz="1300" dirty="0">
                <a:solidFill>
                  <a:srgbClr val="B5651D"/>
                </a:solidFill>
                <a:latin typeface="Calibri" pitchFamily="34" charset="0"/>
                <a:ea typeface="Calibri" pitchFamily="34" charset="-122"/>
                <a:cs typeface="Calibri" pitchFamily="34" charset="-120"/>
              </a:rPr>
              <a:t>Warmup lowers sharpness so training tolerates a larger lr. Pruning never studied.</a:t>
            </a:r>
            <a:endParaRPr lang="en-US" sz="1300" dirty="0"/>
          </a:p>
        </p:txBody>
      </p:sp>
      <p:sp>
        <p:nvSpPr>
          <p:cNvPr id="16" name="Text 14"/>
          <p:cNvSpPr txBox="1"/>
          <p:nvPr/>
        </p:nvSpPr>
        <p:spPr>
          <a:xfrm>
            <a:off x="548640" y="6263640"/>
            <a:ext cx="10545775" cy="320040"/>
          </a:xfrm>
          <a:prstGeom prst="rect">
            <a:avLst/>
          </a:prstGeom>
          <a:noFill/>
          <a:ln/>
        </p:spPr>
        <p:txBody>
          <a:bodyPr wrap="square" lIns="0" tIns="0" rIns="0" bIns="0" rtlCol="0" anchor="b"/>
          <a:lstStyle/>
          <a:p>
            <a:pPr indent="0" marL="0">
              <a:buNone/>
            </a:pPr>
            <a:r>
              <a:rPr lang="en-US" sz="1100" dirty="0">
                <a:solidFill>
                  <a:srgbClr val="5A6478"/>
                </a:solidFill>
                <a:latin typeface="Calibri" pitchFamily="34" charset="0"/>
                <a:ea typeface="Calibri" pitchFamily="34" charset="-122"/>
                <a:cs typeface="Calibri" pitchFamily="34" charset="-120"/>
              </a:rPr>
              <a:t>Also read: Lange &amp; Sprekeler, ICML 2023 (ES lottery tickets; GD optima get sharper as sparsity rises).</a:t>
            </a:r>
            <a:endParaRPr lang="en-US" sz="1100" dirty="0"/>
          </a:p>
        </p:txBody>
      </p:sp>
      <p:sp>
        <p:nvSpPr>
          <p:cNvPr id="17" name="Text 15"/>
          <p:cNvSpPr txBox="1"/>
          <p:nvPr/>
        </p:nvSpPr>
        <p:spPr>
          <a:xfrm>
            <a:off x="11185855" y="6263640"/>
            <a:ext cx="457200" cy="320040"/>
          </a:xfrm>
          <a:prstGeom prst="rect">
            <a:avLst/>
          </a:prstGeom>
          <a:noFill/>
          <a:ln/>
        </p:spPr>
        <p:txBody>
          <a:bodyPr wrap="square" lIns="0" tIns="0" rIns="0" bIns="0" rtlCol="0" anchor="b"/>
          <a:lstStyle/>
          <a:p>
            <a:pPr algn="r" indent="0" marL="0">
              <a:buNone/>
            </a:pPr>
            <a:r>
              <a:rPr lang="en-US" sz="1100" dirty="0">
                <a:solidFill>
                  <a:srgbClr val="5A6478"/>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274320"/>
          </a:xfrm>
          <a:prstGeom prst="rect">
            <a:avLst/>
          </a:prstGeom>
          <a:noFill/>
          <a:ln/>
        </p:spPr>
        <p:txBody>
          <a:bodyPr wrap="square" lIns="0" tIns="0" rIns="0" bIns="0" rtlCol="0" anchor="t"/>
          <a:lstStyle/>
          <a:p>
            <a:pPr indent="0" marL="0">
              <a:buNone/>
            </a:pPr>
            <a:r>
              <a:rPr lang="en-US" sz="1200" b="1" spc="300" kern="0" dirty="0">
                <a:solidFill>
                  <a:srgbClr val="F2A65A"/>
                </a:solidFill>
                <a:latin typeface="Calibri" pitchFamily="34" charset="0"/>
                <a:ea typeface="Calibri" pitchFamily="34" charset="-122"/>
                <a:cs typeface="Calibri" pitchFamily="34" charset="-120"/>
              </a:rPr>
              <a:t>RESEARCH QUESTION</a:t>
            </a:r>
            <a:endParaRPr lang="en-US" sz="1200" dirty="0"/>
          </a:p>
        </p:txBody>
      </p:sp>
      <p:sp>
        <p:nvSpPr>
          <p:cNvPr id="3" name="Text 1"/>
          <p:cNvSpPr txBox="1"/>
          <p:nvPr/>
        </p:nvSpPr>
        <p:spPr>
          <a:xfrm>
            <a:off x="548640" y="777240"/>
            <a:ext cx="11094415" cy="1463040"/>
          </a:xfrm>
          <a:prstGeom prst="rect">
            <a:avLst/>
          </a:prstGeom>
          <a:noFill/>
          <a:ln/>
        </p:spPr>
        <p:txBody>
          <a:bodyPr wrap="square" lIns="0" tIns="0" rIns="0" bIns="0" rtlCol="0" anchor="t"/>
          <a:lstStyle/>
          <a:p>
            <a:pPr indent="0" marL="0">
              <a:buNone/>
            </a:pPr>
            <a:r>
              <a:rPr lang="en-US" sz="2400" dirty="0">
                <a:solidFill>
                  <a:srgbClr val="FFFFFF"/>
                </a:solidFill>
                <a:latin typeface="Cambria" pitchFamily="34" charset="0"/>
                <a:ea typeface="Cambria" pitchFamily="34" charset="-122"/>
                <a:cs typeface="Cambria" pitchFamily="34" charset="-120"/>
              </a:rPr>
              <a:t>Do lottery tickets fail at high learning rates because training crosses the stability limit η·λmax ≈ 2(1+β)? And does warmup rescue them by controlling sharpness rather than by preserving weight correlation?</a:t>
            </a:r>
            <a:endParaRPr lang="en-US" sz="2400" dirty="0"/>
          </a:p>
        </p:txBody>
      </p:sp>
      <p:sp>
        <p:nvSpPr>
          <p:cNvPr id="4" name="Shape 2"/>
          <p:cNvSpPr/>
          <p:nvPr/>
        </p:nvSpPr>
        <p:spPr>
          <a:xfrm>
            <a:off x="548640" y="2514600"/>
            <a:ext cx="5410048" cy="1371600"/>
          </a:xfrm>
          <a:prstGeom prst="roundRect">
            <a:avLst>
              <a:gd name="adj" fmla="val 8000"/>
            </a:avLst>
          </a:prstGeom>
          <a:solidFill>
            <a:srgbClr val="1F2E50"/>
          </a:solidFill>
          <a:ln/>
        </p:spPr>
      </p:sp>
      <p:sp>
        <p:nvSpPr>
          <p:cNvPr id="5" name="Text 3"/>
          <p:cNvSpPr txBox="1"/>
          <p:nvPr/>
        </p:nvSpPr>
        <p:spPr>
          <a:xfrm>
            <a:off x="822960" y="2715768"/>
            <a:ext cx="4861408" cy="365760"/>
          </a:xfrm>
          <a:prstGeom prst="rect">
            <a:avLst/>
          </a:prstGeom>
          <a:noFill/>
          <a:ln/>
        </p:spPr>
        <p:txBody>
          <a:bodyPr wrap="square" lIns="0" tIns="0" rIns="0" bIns="0" rtlCol="0" anchor="t"/>
          <a:lstStyle/>
          <a:p>
            <a:pPr indent="0" marL="0">
              <a:buNone/>
            </a:pPr>
            <a:r>
              <a:rPr lang="en-US" sz="1600" b="1" dirty="0">
                <a:solidFill>
                  <a:srgbClr val="F2A65A"/>
                </a:solidFill>
                <a:latin typeface="Calibri" pitchFamily="34" charset="0"/>
                <a:ea typeface="Calibri" pitchFamily="34" charset="-122"/>
                <a:cs typeface="Calibri" pitchFamily="34" charset="-120"/>
              </a:rPr>
              <a:t>H1 · Replicate</a:t>
            </a:r>
            <a:endParaRPr lang="en-US" sz="1600" dirty="0"/>
          </a:p>
        </p:txBody>
      </p:sp>
      <p:sp>
        <p:nvSpPr>
          <p:cNvPr id="6" name="Text 4"/>
          <p:cNvSpPr txBox="1"/>
          <p:nvPr/>
        </p:nvSpPr>
        <p:spPr>
          <a:xfrm>
            <a:off x="822960" y="3108960"/>
            <a:ext cx="4861408" cy="6858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ResNet-20 tickets win at η = 0.01 and with warmup, and lose at η = 0.1</a:t>
            </a:r>
            <a:endParaRPr lang="en-US" sz="1500" dirty="0"/>
          </a:p>
        </p:txBody>
      </p:sp>
      <p:sp>
        <p:nvSpPr>
          <p:cNvPr id="7" name="Text 5"/>
          <p:cNvSpPr txBox="1"/>
          <p:nvPr/>
        </p:nvSpPr>
        <p:spPr>
          <a:xfrm>
            <a:off x="2941168" y="2734056"/>
            <a:ext cx="2743200" cy="320040"/>
          </a:xfrm>
          <a:prstGeom prst="rect">
            <a:avLst/>
          </a:prstGeom>
          <a:noFill/>
          <a:ln/>
        </p:spPr>
        <p:txBody>
          <a:bodyPr wrap="square" lIns="0" tIns="0" rIns="0" bIns="0" rtlCol="0" anchor="t"/>
          <a:lstStyle/>
          <a:p>
            <a:pPr algn="r" indent="0" marL="0">
              <a:buNone/>
            </a:pPr>
            <a:r>
              <a:rPr lang="en-US" sz="1200" i="1" dirty="0">
                <a:solidFill>
                  <a:srgbClr val="B7C4DA"/>
                </a:solidFill>
                <a:latin typeface="Calibri" pitchFamily="34" charset="0"/>
                <a:ea typeface="Calibri" pitchFamily="34" charset="-122"/>
                <a:cs typeface="Calibri" pitchFamily="34" charset="-120"/>
              </a:rPr>
              <a:t>Pilot: seen in Conv-4</a:t>
            </a:r>
            <a:endParaRPr lang="en-US" sz="1200" dirty="0"/>
          </a:p>
        </p:txBody>
      </p:sp>
      <p:sp>
        <p:nvSpPr>
          <p:cNvPr id="8" name="Shape 6"/>
          <p:cNvSpPr/>
          <p:nvPr/>
        </p:nvSpPr>
        <p:spPr>
          <a:xfrm>
            <a:off x="6233008" y="2514600"/>
            <a:ext cx="5410048" cy="1371600"/>
          </a:xfrm>
          <a:prstGeom prst="roundRect">
            <a:avLst>
              <a:gd name="adj" fmla="val 8000"/>
            </a:avLst>
          </a:prstGeom>
          <a:solidFill>
            <a:srgbClr val="1F2E50"/>
          </a:solidFill>
          <a:ln/>
        </p:spPr>
      </p:sp>
      <p:sp>
        <p:nvSpPr>
          <p:cNvPr id="9" name="Text 7"/>
          <p:cNvSpPr txBox="1"/>
          <p:nvPr/>
        </p:nvSpPr>
        <p:spPr>
          <a:xfrm>
            <a:off x="6507328" y="2715768"/>
            <a:ext cx="4861408" cy="365760"/>
          </a:xfrm>
          <a:prstGeom prst="rect">
            <a:avLst/>
          </a:prstGeom>
          <a:noFill/>
          <a:ln/>
        </p:spPr>
        <p:txBody>
          <a:bodyPr wrap="square" lIns="0" tIns="0" rIns="0" bIns="0" rtlCol="0" anchor="t"/>
          <a:lstStyle/>
          <a:p>
            <a:pPr indent="0" marL="0">
              <a:buNone/>
            </a:pPr>
            <a:r>
              <a:rPr lang="en-US" sz="1600" b="1" dirty="0">
                <a:solidFill>
                  <a:srgbClr val="F2A65A"/>
                </a:solidFill>
                <a:latin typeface="Calibri" pitchFamily="34" charset="0"/>
                <a:ea typeface="Calibri" pitchFamily="34" charset="-122"/>
                <a:cs typeface="Calibri" pitchFamily="34" charset="-120"/>
              </a:rPr>
              <a:t>H2 · Stability ratio</a:t>
            </a:r>
            <a:endParaRPr lang="en-US" sz="1600" dirty="0"/>
          </a:p>
        </p:txBody>
      </p:sp>
      <p:sp>
        <p:nvSpPr>
          <p:cNvPr id="10" name="Text 8"/>
          <p:cNvSpPr txBox="1"/>
          <p:nvPr/>
        </p:nvSpPr>
        <p:spPr>
          <a:xfrm>
            <a:off x="6507328" y="3108960"/>
            <a:ext cx="4861408" cy="6858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Tickets fail where S(t) = η·λmax / (2+2β) reaches ~1 early in training</a:t>
            </a:r>
            <a:endParaRPr lang="en-US" sz="1500" dirty="0"/>
          </a:p>
        </p:txBody>
      </p:sp>
      <p:sp>
        <p:nvSpPr>
          <p:cNvPr id="11" name="Text 9"/>
          <p:cNvSpPr txBox="1"/>
          <p:nvPr/>
        </p:nvSpPr>
        <p:spPr>
          <a:xfrm>
            <a:off x="8625535" y="2734056"/>
            <a:ext cx="2743200" cy="320040"/>
          </a:xfrm>
          <a:prstGeom prst="rect">
            <a:avLst/>
          </a:prstGeom>
          <a:noFill/>
          <a:ln/>
        </p:spPr>
        <p:txBody>
          <a:bodyPr wrap="square" lIns="0" tIns="0" rIns="0" bIns="0" rtlCol="0" anchor="t"/>
          <a:lstStyle/>
          <a:p>
            <a:pPr algn="r" indent="0" marL="0">
              <a:buNone/>
            </a:pPr>
            <a:r>
              <a:rPr lang="en-US" sz="1200" i="1" dirty="0">
                <a:solidFill>
                  <a:srgbClr val="B7C4DA"/>
                </a:solidFill>
                <a:latin typeface="Calibri" pitchFamily="34" charset="0"/>
                <a:ea typeface="Calibri" pitchFamily="34" charset="-122"/>
                <a:cs typeface="Calibri" pitchFamily="34" charset="-120"/>
              </a:rPr>
              <a:t>Pilot: suggestive, not shown</a:t>
            </a:r>
            <a:endParaRPr lang="en-US" sz="1200" dirty="0"/>
          </a:p>
        </p:txBody>
      </p:sp>
      <p:sp>
        <p:nvSpPr>
          <p:cNvPr id="12" name="Shape 10"/>
          <p:cNvSpPr/>
          <p:nvPr/>
        </p:nvSpPr>
        <p:spPr>
          <a:xfrm>
            <a:off x="548640" y="4114800"/>
            <a:ext cx="5410048" cy="1371600"/>
          </a:xfrm>
          <a:prstGeom prst="roundRect">
            <a:avLst>
              <a:gd name="adj" fmla="val 8000"/>
            </a:avLst>
          </a:prstGeom>
          <a:solidFill>
            <a:srgbClr val="1F2E50"/>
          </a:solidFill>
          <a:ln/>
        </p:spPr>
      </p:sp>
      <p:sp>
        <p:nvSpPr>
          <p:cNvPr id="13" name="Text 11"/>
          <p:cNvSpPr txBox="1"/>
          <p:nvPr/>
        </p:nvSpPr>
        <p:spPr>
          <a:xfrm>
            <a:off x="822960" y="4315968"/>
            <a:ext cx="4861408" cy="365760"/>
          </a:xfrm>
          <a:prstGeom prst="rect">
            <a:avLst/>
          </a:prstGeom>
          <a:noFill/>
          <a:ln/>
        </p:spPr>
        <p:txBody>
          <a:bodyPr wrap="square" lIns="0" tIns="0" rIns="0" bIns="0" rtlCol="0" anchor="t"/>
          <a:lstStyle/>
          <a:p>
            <a:pPr indent="0" marL="0">
              <a:buNone/>
            </a:pPr>
            <a:r>
              <a:rPr lang="en-US" sz="1600" b="1" dirty="0">
                <a:solidFill>
                  <a:srgbClr val="F2A65A"/>
                </a:solidFill>
                <a:latin typeface="Calibri" pitchFamily="34" charset="0"/>
                <a:ea typeface="Calibri" pitchFamily="34" charset="-122"/>
                <a:cs typeface="Calibri" pitchFamily="34" charset="-120"/>
              </a:rPr>
              <a:t>H3 · Warmup mechanism</a:t>
            </a:r>
            <a:endParaRPr lang="en-US" sz="1600" dirty="0"/>
          </a:p>
        </p:txBody>
      </p:sp>
      <p:sp>
        <p:nvSpPr>
          <p:cNvPr id="14" name="Text 12"/>
          <p:cNvSpPr txBox="1"/>
          <p:nvPr/>
        </p:nvSpPr>
        <p:spPr>
          <a:xfrm>
            <a:off x="822960" y="4709160"/>
            <a:ext cx="4861408" cy="6858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Warmup keeps S below 1 as the ticket advantage returns</a:t>
            </a:r>
            <a:endParaRPr lang="en-US" sz="1500" dirty="0"/>
          </a:p>
        </p:txBody>
      </p:sp>
      <p:sp>
        <p:nvSpPr>
          <p:cNvPr id="15" name="Text 13"/>
          <p:cNvSpPr txBox="1"/>
          <p:nvPr/>
        </p:nvSpPr>
        <p:spPr>
          <a:xfrm>
            <a:off x="2941168" y="4334256"/>
            <a:ext cx="2743200" cy="320040"/>
          </a:xfrm>
          <a:prstGeom prst="rect">
            <a:avLst/>
          </a:prstGeom>
          <a:noFill/>
          <a:ln/>
        </p:spPr>
        <p:txBody>
          <a:bodyPr wrap="square" lIns="0" tIns="0" rIns="0" bIns="0" rtlCol="0" anchor="t"/>
          <a:lstStyle/>
          <a:p>
            <a:pPr algn="r" indent="0" marL="0">
              <a:buNone/>
            </a:pPr>
            <a:r>
              <a:rPr lang="en-US" sz="1200" i="1" dirty="0">
                <a:solidFill>
                  <a:srgbClr val="B7C4DA"/>
                </a:solidFill>
                <a:latin typeface="Calibri" pitchFamily="34" charset="0"/>
                <a:ea typeface="Calibri" pitchFamily="34" charset="-122"/>
                <a:cs typeface="Calibri" pitchFamily="34" charset="-120"/>
              </a:rPr>
              <a:t>Pilot: consistent</a:t>
            </a:r>
            <a:endParaRPr lang="en-US" sz="1200" dirty="0"/>
          </a:p>
        </p:txBody>
      </p:sp>
      <p:sp>
        <p:nvSpPr>
          <p:cNvPr id="16" name="Shape 14"/>
          <p:cNvSpPr/>
          <p:nvPr/>
        </p:nvSpPr>
        <p:spPr>
          <a:xfrm>
            <a:off x="6233008" y="4114800"/>
            <a:ext cx="5410048" cy="1371600"/>
          </a:xfrm>
          <a:prstGeom prst="roundRect">
            <a:avLst>
              <a:gd name="adj" fmla="val 8000"/>
            </a:avLst>
          </a:prstGeom>
          <a:solidFill>
            <a:srgbClr val="1F2E50"/>
          </a:solidFill>
          <a:ln/>
        </p:spPr>
      </p:sp>
      <p:sp>
        <p:nvSpPr>
          <p:cNvPr id="17" name="Text 15"/>
          <p:cNvSpPr txBox="1"/>
          <p:nvPr/>
        </p:nvSpPr>
        <p:spPr>
          <a:xfrm>
            <a:off x="6507328" y="4315968"/>
            <a:ext cx="4861408" cy="365760"/>
          </a:xfrm>
          <a:prstGeom prst="rect">
            <a:avLst/>
          </a:prstGeom>
          <a:noFill/>
          <a:ln/>
        </p:spPr>
        <p:txBody>
          <a:bodyPr wrap="square" lIns="0" tIns="0" rIns="0" bIns="0" rtlCol="0" anchor="t"/>
          <a:lstStyle/>
          <a:p>
            <a:pPr indent="0" marL="0">
              <a:buNone/>
            </a:pPr>
            <a:r>
              <a:rPr lang="en-US" sz="1600" b="1" dirty="0">
                <a:solidFill>
                  <a:srgbClr val="F2A65A"/>
                </a:solidFill>
                <a:latin typeface="Calibri" pitchFamily="34" charset="0"/>
                <a:ea typeface="Calibri" pitchFamily="34" charset="-122"/>
                <a:cs typeface="Calibri" pitchFamily="34" charset="-120"/>
              </a:rPr>
              <a:t>H4 · Causal test</a:t>
            </a:r>
            <a:endParaRPr lang="en-US" sz="1600" dirty="0"/>
          </a:p>
        </p:txBody>
      </p:sp>
      <p:sp>
        <p:nvSpPr>
          <p:cNvPr id="18" name="Text 16"/>
          <p:cNvSpPr txBox="1"/>
          <p:nvPr/>
        </p:nvSpPr>
        <p:spPr>
          <a:xfrm>
            <a:off x="6507328" y="4709160"/>
            <a:ext cx="4861408" cy="6858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SAM (lowers sharpness) vs L2-anchor to θ0 (raises correlation): which rescues tickets?</a:t>
            </a:r>
            <a:endParaRPr lang="en-US" sz="1500" dirty="0"/>
          </a:p>
        </p:txBody>
      </p:sp>
      <p:sp>
        <p:nvSpPr>
          <p:cNvPr id="19" name="Text 17"/>
          <p:cNvSpPr txBox="1"/>
          <p:nvPr/>
        </p:nvSpPr>
        <p:spPr>
          <a:xfrm>
            <a:off x="8625535" y="4334256"/>
            <a:ext cx="2743200" cy="320040"/>
          </a:xfrm>
          <a:prstGeom prst="rect">
            <a:avLst/>
          </a:prstGeom>
          <a:noFill/>
          <a:ln/>
        </p:spPr>
        <p:txBody>
          <a:bodyPr wrap="square" lIns="0" tIns="0" rIns="0" bIns="0" rtlCol="0" anchor="t"/>
          <a:lstStyle/>
          <a:p>
            <a:pPr algn="r" indent="0" marL="0">
              <a:buNone/>
            </a:pPr>
            <a:r>
              <a:rPr lang="en-US" sz="1200" i="1" dirty="0">
                <a:solidFill>
                  <a:srgbClr val="B7C4DA"/>
                </a:solidFill>
                <a:latin typeface="Calibri" pitchFamily="34" charset="0"/>
                <a:ea typeface="Calibri" pitchFamily="34" charset="-122"/>
                <a:cs typeface="Calibri" pitchFamily="34" charset="-120"/>
              </a:rPr>
              <a:t>Not yet tested</a:t>
            </a:r>
            <a:endParaRPr lang="en-US" sz="1200" dirty="0"/>
          </a:p>
        </p:txBody>
      </p:sp>
      <p:sp>
        <p:nvSpPr>
          <p:cNvPr id="20" name="Text 18"/>
          <p:cNvSpPr txBox="1"/>
          <p:nvPr/>
        </p:nvSpPr>
        <p:spPr>
          <a:xfrm>
            <a:off x="548640" y="6263640"/>
            <a:ext cx="10545775" cy="320040"/>
          </a:xfrm>
          <a:prstGeom prst="rect">
            <a:avLst/>
          </a:prstGeom>
          <a:noFill/>
          <a:ln/>
        </p:spPr>
        <p:txBody>
          <a:bodyPr wrap="square" lIns="0" tIns="0" rIns="0" bIns="0" rtlCol="0" anchor="b"/>
          <a:lstStyle/>
          <a:p>
            <a:pPr indent="0" marL="0">
              <a:buNone/>
            </a:pPr>
            <a:r>
              <a:rPr lang="en-US" sz="1100" dirty="0">
                <a:solidFill>
                  <a:srgbClr val="9FB0CC"/>
                </a:solidFill>
                <a:latin typeface="Calibri" pitchFamily="34" charset="0"/>
                <a:ea typeface="Calibri" pitchFamily="34" charset="-122"/>
                <a:cs typeface="Calibri" pitchFamily="34" charset="-120"/>
              </a:rPr>
              <a:t>Novelty check (Sep 2026): Frankle 2020, Paul 2023, Sakamoto &amp; Sato 2022 and a 2025 dataset-distillation paper link tickets to geometry, but none tests this boundary.</a:t>
            </a:r>
            <a:endParaRPr lang="en-US" sz="1100" dirty="0"/>
          </a:p>
        </p:txBody>
      </p:sp>
      <p:sp>
        <p:nvSpPr>
          <p:cNvPr id="21" name="Text 19"/>
          <p:cNvSpPr txBox="1"/>
          <p:nvPr/>
        </p:nvSpPr>
        <p:spPr>
          <a:xfrm>
            <a:off x="11185855" y="6263640"/>
            <a:ext cx="457200" cy="320040"/>
          </a:xfrm>
          <a:prstGeom prst="rect">
            <a:avLst/>
          </a:prstGeom>
          <a:noFill/>
          <a:ln/>
        </p:spPr>
        <p:txBody>
          <a:bodyPr wrap="square" lIns="0" tIns="0" rIns="0" bIns="0" rtlCol="0" anchor="b"/>
          <a:lstStyle/>
          <a:p>
            <a:pPr algn="r" indent="0" marL="0">
              <a:buNone/>
            </a:pPr>
            <a:r>
              <a:rPr lang="en-US" sz="1100" dirty="0">
                <a:solidFill>
                  <a:srgbClr val="9FB0CC"/>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274320"/>
          </a:xfrm>
          <a:prstGeom prst="rect">
            <a:avLst/>
          </a:prstGeom>
          <a:noFill/>
          <a:ln/>
        </p:spPr>
        <p:txBody>
          <a:bodyPr wrap="square" lIns="0" tIns="0" rIns="0" bIns="0" rtlCol="0" anchor="t"/>
          <a:lstStyle/>
          <a:p>
            <a:pPr indent="0" marL="0">
              <a:buNone/>
            </a:pPr>
            <a:r>
              <a:rPr lang="en-US" sz="1200" b="1" spc="300" kern="0" dirty="0">
                <a:solidFill>
                  <a:srgbClr val="B5651D"/>
                </a:solidFill>
                <a:latin typeface="Calibri" pitchFamily="34" charset="0"/>
                <a:ea typeface="Calibri" pitchFamily="34" charset="-122"/>
                <a:cs typeface="Calibri" pitchFamily="34" charset="-120"/>
              </a:rPr>
              <a:t>PROPOSED METHODOLOGY</a:t>
            </a:r>
            <a:endParaRPr lang="en-US" sz="1200" dirty="0"/>
          </a:p>
        </p:txBody>
      </p:sp>
      <p:sp>
        <p:nvSpPr>
          <p:cNvPr id="3" name="Text 1"/>
          <p:cNvSpPr txBox="1"/>
          <p:nvPr/>
        </p:nvSpPr>
        <p:spPr>
          <a:xfrm>
            <a:off x="548640" y="731520"/>
            <a:ext cx="11094415" cy="68580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Iterative magnitude pruning with a sharpness probe at every round</a:t>
            </a:r>
            <a:endParaRPr lang="en-US" sz="2800" dirty="0"/>
          </a:p>
        </p:txBody>
      </p:sp>
      <p:sp>
        <p:nvSpPr>
          <p:cNvPr id="4" name="Shape 2"/>
          <p:cNvSpPr/>
          <p:nvPr/>
        </p:nvSpPr>
        <p:spPr>
          <a:xfrm>
            <a:off x="548640" y="1645920"/>
            <a:ext cx="1828800" cy="960120"/>
          </a:xfrm>
          <a:prstGeom prst="roundRect">
            <a:avLst>
              <a:gd name="adj" fmla="val 11429"/>
            </a:avLst>
          </a:prstGeom>
          <a:solidFill>
            <a:srgbClr val="14213D"/>
          </a:solidFill>
          <a:ln/>
        </p:spPr>
      </p:sp>
      <p:sp>
        <p:nvSpPr>
          <p:cNvPr id="5" name="Text 3"/>
          <p:cNvSpPr txBox="1"/>
          <p:nvPr/>
        </p:nvSpPr>
        <p:spPr>
          <a:xfrm>
            <a:off x="685800" y="1737360"/>
            <a:ext cx="155448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1 · Init θ0</a:t>
            </a:r>
            <a:endParaRPr lang="en-US" sz="1500" dirty="0"/>
          </a:p>
        </p:txBody>
      </p:sp>
      <p:sp>
        <p:nvSpPr>
          <p:cNvPr id="6" name="Text 4"/>
          <p:cNvSpPr txBox="1"/>
          <p:nvPr/>
        </p:nvSpPr>
        <p:spPr>
          <a:xfrm>
            <a:off x="685800" y="2103120"/>
            <a:ext cx="1554480" cy="365760"/>
          </a:xfrm>
          <a:prstGeom prst="rect">
            <a:avLst/>
          </a:prstGeom>
          <a:noFill/>
          <a:ln/>
        </p:spPr>
        <p:txBody>
          <a:bodyPr wrap="square" lIns="0" tIns="0" rIns="0" bIns="0" rtlCol="0" anchor="t"/>
          <a:lstStyle/>
          <a:p>
            <a:pPr indent="0" marL="0">
              <a:buNone/>
            </a:pPr>
            <a:r>
              <a:rPr lang="en-US" sz="1200" dirty="0">
                <a:solidFill>
                  <a:srgbClr val="C9D3E3"/>
                </a:solidFill>
                <a:latin typeface="Calibri" pitchFamily="34" charset="0"/>
                <a:ea typeface="Calibri" pitchFamily="34" charset="-122"/>
                <a:cs typeface="Calibri" pitchFamily="34" charset="-120"/>
              </a:rPr>
              <a:t>save exactly</a:t>
            </a:r>
            <a:endParaRPr lang="en-US" sz="1200" dirty="0"/>
          </a:p>
        </p:txBody>
      </p:sp>
      <p:sp>
        <p:nvSpPr>
          <p:cNvPr id="7" name="Shape 5"/>
          <p:cNvSpPr/>
          <p:nvPr/>
        </p:nvSpPr>
        <p:spPr>
          <a:xfrm>
            <a:off x="2484082" y="2002536"/>
            <a:ext cx="274320" cy="256032"/>
          </a:xfrm>
          <a:prstGeom prst="rightArrow">
            <a:avLst/>
          </a:prstGeom>
          <a:solidFill>
            <a:srgbClr val="B5651D"/>
          </a:solidFill>
          <a:ln/>
        </p:spPr>
      </p:sp>
      <p:sp>
        <p:nvSpPr>
          <p:cNvPr id="8" name="Shape 6"/>
          <p:cNvSpPr/>
          <p:nvPr/>
        </p:nvSpPr>
        <p:spPr>
          <a:xfrm>
            <a:off x="2865044" y="1645920"/>
            <a:ext cx="1828800" cy="960120"/>
          </a:xfrm>
          <a:prstGeom prst="roundRect">
            <a:avLst>
              <a:gd name="adj" fmla="val 11429"/>
            </a:avLst>
          </a:prstGeom>
          <a:solidFill>
            <a:srgbClr val="14213D"/>
          </a:solidFill>
          <a:ln/>
        </p:spPr>
      </p:sp>
      <p:sp>
        <p:nvSpPr>
          <p:cNvPr id="9" name="Text 7"/>
          <p:cNvSpPr txBox="1"/>
          <p:nvPr/>
        </p:nvSpPr>
        <p:spPr>
          <a:xfrm>
            <a:off x="3002204" y="1737360"/>
            <a:ext cx="155448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2 · Train θ0⊙m</a:t>
            </a:r>
            <a:endParaRPr lang="en-US" sz="1500" dirty="0"/>
          </a:p>
        </p:txBody>
      </p:sp>
      <p:sp>
        <p:nvSpPr>
          <p:cNvPr id="10" name="Text 8"/>
          <p:cNvSpPr txBox="1"/>
          <p:nvPr/>
        </p:nvSpPr>
        <p:spPr>
          <a:xfrm>
            <a:off x="3002204" y="2103120"/>
            <a:ext cx="1554480" cy="365760"/>
          </a:xfrm>
          <a:prstGeom prst="rect">
            <a:avLst/>
          </a:prstGeom>
          <a:noFill/>
          <a:ln/>
        </p:spPr>
        <p:txBody>
          <a:bodyPr wrap="square" lIns="0" tIns="0" rIns="0" bIns="0" rtlCol="0" anchor="t"/>
          <a:lstStyle/>
          <a:p>
            <a:pPr indent="0" marL="0">
              <a:buNone/>
            </a:pPr>
            <a:r>
              <a:rPr lang="en-US" sz="1200" dirty="0">
                <a:solidFill>
                  <a:srgbClr val="C9D3E3"/>
                </a:solidFill>
                <a:latin typeface="Calibri" pitchFamily="34" charset="0"/>
                <a:ea typeface="Calibri" pitchFamily="34" charset="-122"/>
                <a:cs typeface="Calibri" pitchFamily="34" charset="-120"/>
              </a:rPr>
              <a:t>log λmax(t), S(t)</a:t>
            </a:r>
            <a:endParaRPr lang="en-US" sz="1200" dirty="0"/>
          </a:p>
        </p:txBody>
      </p:sp>
      <p:sp>
        <p:nvSpPr>
          <p:cNvPr id="11" name="Shape 9"/>
          <p:cNvSpPr/>
          <p:nvPr/>
        </p:nvSpPr>
        <p:spPr>
          <a:xfrm>
            <a:off x="4800486" y="2002536"/>
            <a:ext cx="274320" cy="256032"/>
          </a:xfrm>
          <a:prstGeom prst="rightArrow">
            <a:avLst/>
          </a:prstGeom>
          <a:solidFill>
            <a:srgbClr val="B5651D"/>
          </a:solidFill>
          <a:ln/>
        </p:spPr>
      </p:sp>
      <p:sp>
        <p:nvSpPr>
          <p:cNvPr id="12" name="Shape 10"/>
          <p:cNvSpPr/>
          <p:nvPr/>
        </p:nvSpPr>
        <p:spPr>
          <a:xfrm>
            <a:off x="5181448" y="1645920"/>
            <a:ext cx="1828800" cy="960120"/>
          </a:xfrm>
          <a:prstGeom prst="roundRect">
            <a:avLst>
              <a:gd name="adj" fmla="val 11429"/>
            </a:avLst>
          </a:prstGeom>
          <a:solidFill>
            <a:srgbClr val="14213D"/>
          </a:solidFill>
          <a:ln/>
        </p:spPr>
      </p:sp>
      <p:sp>
        <p:nvSpPr>
          <p:cNvPr id="13" name="Text 11"/>
          <p:cNvSpPr txBox="1"/>
          <p:nvPr/>
        </p:nvSpPr>
        <p:spPr>
          <a:xfrm>
            <a:off x="5318608" y="1737360"/>
            <a:ext cx="155448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3 · Evaluate</a:t>
            </a:r>
            <a:endParaRPr lang="en-US" sz="1500" dirty="0"/>
          </a:p>
        </p:txBody>
      </p:sp>
      <p:sp>
        <p:nvSpPr>
          <p:cNvPr id="14" name="Text 12"/>
          <p:cNvSpPr txBox="1"/>
          <p:nvPr/>
        </p:nvSpPr>
        <p:spPr>
          <a:xfrm>
            <a:off x="5318608" y="2103120"/>
            <a:ext cx="1554480" cy="365760"/>
          </a:xfrm>
          <a:prstGeom prst="rect">
            <a:avLst/>
          </a:prstGeom>
          <a:noFill/>
          <a:ln/>
        </p:spPr>
        <p:txBody>
          <a:bodyPr wrap="square" lIns="0" tIns="0" rIns="0" bIns="0" rtlCol="0" anchor="t"/>
          <a:lstStyle/>
          <a:p>
            <a:pPr indent="0" marL="0">
              <a:buNone/>
            </a:pPr>
            <a:r>
              <a:rPr lang="en-US" sz="1200" dirty="0">
                <a:solidFill>
                  <a:srgbClr val="C9D3E3"/>
                </a:solidFill>
                <a:latin typeface="Calibri" pitchFamily="34" charset="0"/>
                <a:ea typeface="Calibri" pitchFamily="34" charset="-122"/>
                <a:cs typeface="Calibri" pitchFamily="34" charset="-120"/>
              </a:rPr>
              <a:t>acc, F1, AUC, Rp</a:t>
            </a:r>
            <a:endParaRPr lang="en-US" sz="1200" dirty="0"/>
          </a:p>
        </p:txBody>
      </p:sp>
      <p:sp>
        <p:nvSpPr>
          <p:cNvPr id="15" name="Shape 13"/>
          <p:cNvSpPr/>
          <p:nvPr/>
        </p:nvSpPr>
        <p:spPr>
          <a:xfrm>
            <a:off x="7116890" y="2002536"/>
            <a:ext cx="274320" cy="256032"/>
          </a:xfrm>
          <a:prstGeom prst="rightArrow">
            <a:avLst/>
          </a:prstGeom>
          <a:solidFill>
            <a:srgbClr val="B5651D"/>
          </a:solidFill>
          <a:ln/>
        </p:spPr>
      </p:sp>
      <p:sp>
        <p:nvSpPr>
          <p:cNvPr id="16" name="Shape 14"/>
          <p:cNvSpPr/>
          <p:nvPr/>
        </p:nvSpPr>
        <p:spPr>
          <a:xfrm>
            <a:off x="7497851" y="1645920"/>
            <a:ext cx="1828800" cy="960120"/>
          </a:xfrm>
          <a:prstGeom prst="roundRect">
            <a:avLst>
              <a:gd name="adj" fmla="val 11429"/>
            </a:avLst>
          </a:prstGeom>
          <a:solidFill>
            <a:srgbClr val="14213D"/>
          </a:solidFill>
          <a:ln/>
        </p:spPr>
      </p:sp>
      <p:sp>
        <p:nvSpPr>
          <p:cNvPr id="17" name="Text 15"/>
          <p:cNvSpPr txBox="1"/>
          <p:nvPr/>
        </p:nvSpPr>
        <p:spPr>
          <a:xfrm>
            <a:off x="7635011" y="1737360"/>
            <a:ext cx="155448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4 · Prune 30%</a:t>
            </a:r>
            <a:endParaRPr lang="en-US" sz="1500" dirty="0"/>
          </a:p>
        </p:txBody>
      </p:sp>
      <p:sp>
        <p:nvSpPr>
          <p:cNvPr id="18" name="Text 16"/>
          <p:cNvSpPr txBox="1"/>
          <p:nvPr/>
        </p:nvSpPr>
        <p:spPr>
          <a:xfrm>
            <a:off x="7635011" y="2103120"/>
            <a:ext cx="1554480" cy="365760"/>
          </a:xfrm>
          <a:prstGeom prst="rect">
            <a:avLst/>
          </a:prstGeom>
          <a:noFill/>
          <a:ln/>
        </p:spPr>
        <p:txBody>
          <a:bodyPr wrap="square" lIns="0" tIns="0" rIns="0" bIns="0" rtlCol="0" anchor="t"/>
          <a:lstStyle/>
          <a:p>
            <a:pPr indent="0" marL="0">
              <a:buNone/>
            </a:pPr>
            <a:r>
              <a:rPr lang="en-US" sz="1200" dirty="0">
                <a:solidFill>
                  <a:srgbClr val="C9D3E3"/>
                </a:solidFill>
                <a:latin typeface="Calibri" pitchFamily="34" charset="0"/>
                <a:ea typeface="Calibri" pitchFamily="34" charset="-122"/>
                <a:cs typeface="Calibri" pitchFamily="34" charset="-120"/>
              </a:rPr>
              <a:t>global magnitude</a:t>
            </a:r>
            <a:endParaRPr lang="en-US" sz="1200" dirty="0"/>
          </a:p>
        </p:txBody>
      </p:sp>
      <p:sp>
        <p:nvSpPr>
          <p:cNvPr id="19" name="Shape 17"/>
          <p:cNvSpPr/>
          <p:nvPr/>
        </p:nvSpPr>
        <p:spPr>
          <a:xfrm>
            <a:off x="9433293" y="2002536"/>
            <a:ext cx="274320" cy="256032"/>
          </a:xfrm>
          <a:prstGeom prst="rightArrow">
            <a:avLst/>
          </a:prstGeom>
          <a:solidFill>
            <a:srgbClr val="B5651D"/>
          </a:solidFill>
          <a:ln/>
        </p:spPr>
      </p:sp>
      <p:sp>
        <p:nvSpPr>
          <p:cNvPr id="20" name="Shape 18"/>
          <p:cNvSpPr/>
          <p:nvPr/>
        </p:nvSpPr>
        <p:spPr>
          <a:xfrm>
            <a:off x="9814255" y="1645920"/>
            <a:ext cx="1828800" cy="960120"/>
          </a:xfrm>
          <a:prstGeom prst="roundRect">
            <a:avLst>
              <a:gd name="adj" fmla="val 11429"/>
            </a:avLst>
          </a:prstGeom>
          <a:solidFill>
            <a:srgbClr val="14213D"/>
          </a:solidFill>
          <a:ln/>
        </p:spPr>
      </p:sp>
      <p:sp>
        <p:nvSpPr>
          <p:cNvPr id="21" name="Text 19"/>
          <p:cNvSpPr txBox="1"/>
          <p:nvPr/>
        </p:nvSpPr>
        <p:spPr>
          <a:xfrm>
            <a:off x="9951415" y="1737360"/>
            <a:ext cx="155448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5 · Reset</a:t>
            </a:r>
            <a:endParaRPr lang="en-US" sz="1500" dirty="0"/>
          </a:p>
        </p:txBody>
      </p:sp>
      <p:sp>
        <p:nvSpPr>
          <p:cNvPr id="22" name="Text 20"/>
          <p:cNvSpPr txBox="1"/>
          <p:nvPr/>
        </p:nvSpPr>
        <p:spPr>
          <a:xfrm>
            <a:off x="9951415" y="2103120"/>
            <a:ext cx="1554480" cy="365760"/>
          </a:xfrm>
          <a:prstGeom prst="rect">
            <a:avLst/>
          </a:prstGeom>
          <a:noFill/>
          <a:ln/>
        </p:spPr>
        <p:txBody>
          <a:bodyPr wrap="square" lIns="0" tIns="0" rIns="0" bIns="0" rtlCol="0" anchor="t"/>
          <a:lstStyle/>
          <a:p>
            <a:pPr indent="0" marL="0">
              <a:buNone/>
            </a:pPr>
            <a:r>
              <a:rPr lang="en-US" sz="1200" dirty="0">
                <a:solidFill>
                  <a:srgbClr val="C9D3E3"/>
                </a:solidFill>
                <a:latin typeface="Calibri" pitchFamily="34" charset="0"/>
                <a:ea typeface="Calibri" pitchFamily="34" charset="-122"/>
                <a:cs typeface="Calibri" pitchFamily="34" charset="-120"/>
              </a:rPr>
              <a:t>to θ0, repeat ×8</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11094415" cy="914400"/>
        </p:xfrm>
        <a:graphic>
          <a:graphicData uri="http://schemas.openxmlformats.org/drawingml/2006/table">
            <a:tbl>
              <a:tblPr/>
              <a:tblGrid>
                <a:gridCol w="2743200"/>
                <a:gridCol w="2926080"/>
                <a:gridCol w="5422392"/>
              </a:tblGrid>
              <a:tr h="41148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Condition</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LR / warmup</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it tests</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14213D"/>
                    </a:solidFill>
                  </a:tcPr>
                </a:tc>
              </a:tr>
              <a:tr h="41148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0.01 / none</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Known winning-ticket regime (H1)</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0.1 / none</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Known failure regime (H1, H2)</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r>
              <a:tr h="41148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warm03 · high_warm</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0.03 · 0.1 / 10k iterations</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Frankle's rescue, and his reported failure at 0.1 (H3)</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high_sam · high_anchor</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0.1 / none</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Fixed good masks: sharpness vs correlation (H4)</a:t>
                      </a:r>
                      <a:endParaRPr lang="en-US" sz="13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r>
            </a:tbl>
          </a:graphicData>
        </a:graphic>
      </p:graphicFrame>
      <p:sp>
        <p:nvSpPr>
          <p:cNvPr id="24" name="Text 21"/>
          <p:cNvSpPr txBox="1"/>
          <p:nvPr/>
        </p:nvSpPr>
        <p:spPr>
          <a:xfrm>
            <a:off x="548640" y="5029200"/>
            <a:ext cx="11094415" cy="548640"/>
          </a:xfrm>
          <a:prstGeom prst="rect">
            <a:avLst/>
          </a:prstGeom>
          <a:noFill/>
          <a:ln/>
        </p:spPr>
        <p:txBody>
          <a:bodyPr wrap="square" lIns="0" tIns="0" rIns="0" bIns="0" rtlCol="0" anchor="t"/>
          <a:lstStyle/>
          <a:p>
            <a:pPr indent="0" marL="0">
              <a:buNone/>
            </a:pPr>
            <a:r>
              <a:rPr lang="en-US" sz="1300" dirty="0">
                <a:solidFill>
                  <a:srgbClr val="5A6478"/>
                </a:solidFill>
                <a:latin typeface="Calibri" pitchFamily="34" charset="0"/>
                <a:ea typeface="Calibri" pitchFamily="34" charset="-122"/>
                <a:cs typeface="Calibri" pitchFamily="34" charset="-120"/>
              </a:rPr>
              <a:t>ResNet-20 · SGD momentum 0.9 · batch 128 · 15k iterations · baselines at each sparsity: random reinit and layer-wise shuffled θ0 · λmax by Hessian-vector power iteration on a fixed 2,048-image batch</a:t>
            </a:r>
            <a:endParaRPr lang="en-US" sz="1300" dirty="0"/>
          </a:p>
        </p:txBody>
      </p:sp>
      <p:sp>
        <p:nvSpPr>
          <p:cNvPr id="25" name="Text 22"/>
          <p:cNvSpPr txBox="1"/>
          <p:nvPr/>
        </p:nvSpPr>
        <p:spPr>
          <a:xfrm>
            <a:off x="548640" y="5577840"/>
            <a:ext cx="11094415" cy="457200"/>
          </a:xfrm>
          <a:prstGeom prst="rect">
            <a:avLst/>
          </a:prstGeom>
          <a:noFill/>
          <a:ln/>
        </p:spPr>
        <p:txBody>
          <a:bodyPr wrap="square" lIns="0" tIns="0" rIns="0" bIns="0" rtlCol="0" anchor="t"/>
          <a:lstStyle/>
          <a:p>
            <a:pPr indent="0" marL="0">
              <a:buNone/>
            </a:pPr>
            <a:r>
              <a:rPr lang="en-US" sz="1300" b="1" dirty="0">
                <a:solidFill>
                  <a:srgbClr val="B5651D"/>
                </a:solidFill>
                <a:latin typeface="Calibri" pitchFamily="34" charset="0"/>
                <a:ea typeface="Calibri" pitchFamily="34" charset="-122"/>
                <a:cs typeface="Calibri" pitchFamily="34" charset="-120"/>
              </a:rPr>
              <a:t>Divergence rule: </a:t>
            </a:r>
            <a:pPr indent="0" marL="0">
              <a:buNone/>
            </a:pPr>
            <a:r>
              <a:rPr lang="en-US" sz="1300" dirty="0">
                <a:solidFill>
                  <a:srgbClr val="B5651D"/>
                </a:solidFill>
                <a:latin typeface="Calibri" pitchFamily="34" charset="0"/>
                <a:ea typeface="Calibri" pitchFamily="34" charset="-122"/>
                <a:cs typeface="Calibri" pitchFamily="34" charset="-120"/>
              </a:rPr>
              <a:t>if a ticket diverges, record it as a failure and stop pruning that chain (keep the last good mask). Never build a mask from NaN weights.</a:t>
            </a:r>
            <a:endParaRPr lang="en-US" sz="1300" dirty="0"/>
          </a:p>
        </p:txBody>
      </p:sp>
      <p:sp>
        <p:nvSpPr>
          <p:cNvPr id="26" name="Text 23"/>
          <p:cNvSpPr txBox="1"/>
          <p:nvPr/>
        </p:nvSpPr>
        <p:spPr>
          <a:xfrm>
            <a:off x="548640" y="6263640"/>
            <a:ext cx="10545775" cy="320040"/>
          </a:xfrm>
          <a:prstGeom prst="rect">
            <a:avLst/>
          </a:prstGeom>
          <a:noFill/>
          <a:ln/>
        </p:spPr>
        <p:txBody>
          <a:bodyPr wrap="square" lIns="0" tIns="0" rIns="0" bIns="0" rtlCol="0" anchor="b"/>
          <a:lstStyle/>
          <a:p>
            <a:pPr indent="0" marL="0">
              <a:buNone/>
            </a:pPr>
            <a:r>
              <a:rPr lang="en-US" sz="1100" dirty="0">
                <a:solidFill>
                  <a:srgbClr val="5A6478"/>
                </a:solidFill>
                <a:latin typeface="Calibri" pitchFamily="34" charset="0"/>
                <a:ea typeface="Calibri" pitchFamily="34" charset="-122"/>
                <a:cs typeface="Calibri" pitchFamily="34" charset="-120"/>
              </a:rPr>
              <a:t>S(t) = η·λmax / (2+2β): above 1, SGD with momentum is unstable.</a:t>
            </a:r>
            <a:endParaRPr lang="en-US" sz="1100" dirty="0"/>
          </a:p>
        </p:txBody>
      </p:sp>
      <p:sp>
        <p:nvSpPr>
          <p:cNvPr id="27" name="Text 24"/>
          <p:cNvSpPr txBox="1"/>
          <p:nvPr/>
        </p:nvSpPr>
        <p:spPr>
          <a:xfrm>
            <a:off x="11185855" y="6263640"/>
            <a:ext cx="457200" cy="320040"/>
          </a:xfrm>
          <a:prstGeom prst="rect">
            <a:avLst/>
          </a:prstGeom>
          <a:noFill/>
          <a:ln/>
        </p:spPr>
        <p:txBody>
          <a:bodyPr wrap="square" lIns="0" tIns="0" rIns="0" bIns="0" rtlCol="0" anchor="b"/>
          <a:lstStyle/>
          <a:p>
            <a:pPr algn="r" indent="0" marL="0">
              <a:buNone/>
            </a:pPr>
            <a:r>
              <a:rPr lang="en-US" sz="1100" dirty="0">
                <a:solidFill>
                  <a:srgbClr val="5A6478"/>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274320"/>
          </a:xfrm>
          <a:prstGeom prst="rect">
            <a:avLst/>
          </a:prstGeom>
          <a:noFill/>
          <a:ln/>
        </p:spPr>
        <p:txBody>
          <a:bodyPr wrap="square" lIns="0" tIns="0" rIns="0" bIns="0" rtlCol="0" anchor="t"/>
          <a:lstStyle/>
          <a:p>
            <a:pPr indent="0" marL="0">
              <a:buNone/>
            </a:pPr>
            <a:r>
              <a:rPr lang="en-US" sz="1200" b="1" spc="300" kern="0" dirty="0">
                <a:solidFill>
                  <a:srgbClr val="B5651D"/>
                </a:solidFill>
                <a:latin typeface="Calibri" pitchFamily="34" charset="0"/>
                <a:ea typeface="Calibri" pitchFamily="34" charset="-122"/>
                <a:cs typeface="Calibri" pitchFamily="34" charset="-120"/>
              </a:rPr>
              <a:t>PRELIMINARY RESULTS · CPU PILOTS</a:t>
            </a:r>
            <a:endParaRPr lang="en-US" sz="1200" dirty="0"/>
          </a:p>
        </p:txBody>
      </p:sp>
      <p:sp>
        <p:nvSpPr>
          <p:cNvPr id="3" name="Text 1"/>
          <p:cNvSpPr txBox="1"/>
          <p:nvPr/>
        </p:nvSpPr>
        <p:spPr>
          <a:xfrm>
            <a:off x="548640" y="731520"/>
            <a:ext cx="11094415" cy="68580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The high-LR failure shows up even in Conv-4; sparse inits are flatter</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949440" cy="914400"/>
        </p:xfrm>
        <a:graphic>
          <a:graphicData uri="http://schemas.openxmlformats.org/drawingml/2006/table">
            <a:tbl>
              <a:tblPr/>
              <a:tblGrid>
                <a:gridCol w="2286000"/>
                <a:gridCol w="777240"/>
                <a:gridCol w="777240"/>
                <a:gridCol w="777240"/>
                <a:gridCol w="777240"/>
                <a:gridCol w="777240"/>
                <a:gridCol w="777240"/>
              </a:tblGrid>
              <a:tr h="38404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Network (η)</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Acc %</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Prec</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AUC</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Reinit %</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14213D"/>
                    </a:solidFill>
                  </a:tcPr>
                </a:tc>
              </a:tr>
              <a:tr h="384048">
                <a:tc>
                  <a:txBody>
                    <a:bodyPr/>
                    <a:lstStyle/>
                    <a:p>
                      <a:pPr algn="l" indent="0" marL="0">
                        <a:buNone/>
                      </a:pPr>
                      <a:r>
                        <a:rPr lang="en-US" sz="1200" dirty="0">
                          <a:solidFill>
                            <a:srgbClr val="14213D"/>
                          </a:solidFill>
                          <a:latin typeface="Calibri" pitchFamily="34" charset="0"/>
                          <a:ea typeface="Calibri" pitchFamily="34" charset="-122"/>
                          <a:cs typeface="Calibri" pitchFamily="34" charset="-120"/>
                        </a:rPr>
                        <a:t>Dense (0.05)</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83.7</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.835</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.837</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.834</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.984</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4213D"/>
                          </a:solidFill>
                          <a:latin typeface="Calibri" pitchFamily="34" charset="0"/>
                          <a:ea typeface="Calibri" pitchFamily="34" charset="-122"/>
                          <a:cs typeface="Calibri" pitchFamily="34" charset="-120"/>
                        </a:rPr>
                        <a:t>Ticket 16% (0.05)</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84.4</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.842</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.844</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.843</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.984</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78.7</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r>
              <a:tr h="384048">
                <a:tc>
                  <a:txBody>
                    <a:bodyPr/>
                    <a:lstStyle/>
                    <a:p>
                      <a:pPr algn="l" indent="0" marL="0">
                        <a:buNone/>
                      </a:pPr>
                      <a:r>
                        <a:rPr lang="en-US" sz="1200" dirty="0">
                          <a:solidFill>
                            <a:srgbClr val="14213D"/>
                          </a:solidFill>
                          <a:latin typeface="Calibri" pitchFamily="34" charset="0"/>
                          <a:ea typeface="Calibri" pitchFamily="34" charset="-122"/>
                          <a:cs typeface="Calibri" pitchFamily="34" charset="-120"/>
                        </a:rPr>
                        <a:t>Ticket 6.4% (0.05)</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85.3</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.851</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.853</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.851</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.985</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71.7</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4213D"/>
                          </a:solidFill>
                          <a:latin typeface="Calibri" pitchFamily="34" charset="0"/>
                          <a:ea typeface="Calibri" pitchFamily="34" charset="-122"/>
                          <a:cs typeface="Calibri" pitchFamily="34" charset="-120"/>
                        </a:rPr>
                        <a:t>Ticket 6.4% (0.05 + warmup)</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83.0</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.829</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.830</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.827</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.981</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18.7*</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r>
              <a:tr h="384048">
                <a:tc>
                  <a:txBody>
                    <a:bodyPr/>
                    <a:lstStyle/>
                    <a:p>
                      <a:pPr algn="l" indent="0" marL="0">
                        <a:buNone/>
                      </a:pPr>
                      <a:r>
                        <a:rPr lang="en-US" sz="1200" dirty="0">
                          <a:solidFill>
                            <a:srgbClr val="14213D"/>
                          </a:solidFill>
                          <a:latin typeface="Calibri" pitchFamily="34" charset="0"/>
                          <a:ea typeface="Calibri" pitchFamily="34" charset="-122"/>
                          <a:cs typeface="Calibri" pitchFamily="34" charset="-120"/>
                        </a:rPr>
                        <a:t>Ticket 6.4% (0.01)</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82.4</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.821</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.823</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.820</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.980</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4213D"/>
                          </a:solidFill>
                          <a:latin typeface="Calibri" pitchFamily="34" charset="0"/>
                          <a:ea typeface="Calibri" pitchFamily="34" charset="-122"/>
                          <a:cs typeface="Calibri" pitchFamily="34" charset="-120"/>
                        </a:rPr>
                        <a:t>Ticket 1.0% (0.05)</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83.7</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.836</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.837</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.836</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.982</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c>
                  <a:txBody>
                    <a:bodyPr/>
                    <a:lstStyle/>
                    <a:p>
                      <a:pPr algn="r" indent="0" marL="0">
                        <a:buNone/>
                      </a:pPr>
                      <a:r>
                        <a:rPr lang="en-US" sz="1200" dirty="0">
                          <a:solidFill>
                            <a:srgbClr val="14213D"/>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6200" marR="76200" marT="50800" marB="50800" anchor="ctr">
                    <a:lnL w="6350" cap="flat" cmpd="sng" algn="ctr">
                      <a:solidFill>
                        <a:srgbClr val="DCE1EA"/>
                      </a:solidFill>
                      <a:prstDash val="solid"/>
                      <a:round/>
                      <a:headEnd type="none" w="med" len="med"/>
                      <a:tailEnd type="none" w="med" len="med"/>
                    </a:lnL>
                    <a:lnR w="6350" cap="flat" cmpd="sng" algn="ctr">
                      <a:solidFill>
                        <a:srgbClr val="DCE1EA"/>
                      </a:solidFill>
                      <a:prstDash val="solid"/>
                      <a:round/>
                      <a:headEnd type="none" w="med" len="med"/>
                      <a:tailEnd type="none" w="med" len="med"/>
                    </a:lnR>
                    <a:lnT w="6350" cap="flat" cmpd="sng" algn="ctr">
                      <a:solidFill>
                        <a:srgbClr val="DCE1EA"/>
                      </a:solidFill>
                      <a:prstDash val="solid"/>
                      <a:round/>
                      <a:headEnd type="none" w="med" len="med"/>
                      <a:tailEnd type="none" w="med" len="med"/>
                    </a:lnT>
                    <a:lnB w="6350" cap="flat" cmpd="sng" algn="ctr">
                      <a:solidFill>
                        <a:srgbClr val="DCE1EA"/>
                      </a:solidFill>
                      <a:prstDash val="solid"/>
                      <a:round/>
                      <a:headEnd type="none" w="med" len="med"/>
                      <a:tailEnd type="none" w="med" len="med"/>
                    </a:lnB>
                    <a:solidFill>
                      <a:srgbClr val="F3F5F9"/>
                    </a:solidFill>
                  </a:tcPr>
                </a:tc>
              </a:tr>
            </a:tbl>
          </a:graphicData>
        </a:graphic>
      </p:graphicFrame>
      <p:sp>
        <p:nvSpPr>
          <p:cNvPr id="5" name="Text 2"/>
          <p:cNvSpPr txBox="1"/>
          <p:nvPr/>
        </p:nvSpPr>
        <p:spPr>
          <a:xfrm>
            <a:off x="548640" y="4526280"/>
            <a:ext cx="6949440" cy="457200"/>
          </a:xfrm>
          <a:prstGeom prst="rect">
            <a:avLst/>
          </a:prstGeom>
          <a:noFill/>
          <a:ln/>
        </p:spPr>
        <p:txBody>
          <a:bodyPr wrap="square" lIns="0" tIns="0" rIns="0" bIns="0" rtlCol="0" anchor="t"/>
          <a:lstStyle/>
          <a:p>
            <a:pPr indent="0" marL="0">
              <a:buNone/>
            </a:pPr>
            <a:r>
              <a:rPr lang="en-US" sz="1100" dirty="0">
                <a:solidFill>
                  <a:srgbClr val="5A6478"/>
                </a:solidFill>
                <a:latin typeface="Calibri" pitchFamily="34" charset="0"/>
                <a:ea typeface="Calibri" pitchFamily="34" charset="-122"/>
                <a:cs typeface="Calibri" pitchFamily="34" charset="-120"/>
              </a:rPr>
              <a:t>First pilot (η = 0.05 / 0.01). Test set, 10k images · macro-averaged precision/recall/F1 · one-vs-rest AUC · *baseline failed to train</a:t>
            </a:r>
            <a:endParaRPr lang="en-US" sz="1100" dirty="0"/>
          </a:p>
        </p:txBody>
      </p:sp>
      <p:sp>
        <p:nvSpPr>
          <p:cNvPr id="6" name="Shape 3"/>
          <p:cNvSpPr/>
          <p:nvPr/>
        </p:nvSpPr>
        <p:spPr>
          <a:xfrm>
            <a:off x="7863840" y="1645920"/>
            <a:ext cx="3779215" cy="1691640"/>
          </a:xfrm>
          <a:prstGeom prst="roundRect">
            <a:avLst>
              <a:gd name="adj" fmla="val 6486"/>
            </a:avLst>
          </a:prstGeom>
          <a:solidFill>
            <a:srgbClr val="14213D"/>
          </a:solidFill>
          <a:ln/>
        </p:spPr>
      </p:sp>
      <p:sp>
        <p:nvSpPr>
          <p:cNvPr id="7" name="Text 4"/>
          <p:cNvSpPr txBox="1"/>
          <p:nvPr/>
        </p:nvSpPr>
        <p:spPr>
          <a:xfrm>
            <a:off x="8092440" y="1810512"/>
            <a:ext cx="3322015" cy="320040"/>
          </a:xfrm>
          <a:prstGeom prst="rect">
            <a:avLst/>
          </a:prstGeom>
          <a:noFill/>
          <a:ln/>
        </p:spPr>
        <p:txBody>
          <a:bodyPr wrap="square" lIns="0" tIns="0" rIns="0" bIns="0" rtlCol="0" anchor="t"/>
          <a:lstStyle/>
          <a:p>
            <a:pPr indent="0" marL="0">
              <a:buNone/>
            </a:pPr>
            <a:r>
              <a:rPr lang="en-US" sz="1500" b="1" dirty="0">
                <a:solidFill>
                  <a:srgbClr val="F2A65A"/>
                </a:solidFill>
                <a:latin typeface="Calibri" pitchFamily="34" charset="0"/>
                <a:ea typeface="Calibri" pitchFamily="34" charset="-122"/>
                <a:cs typeface="Calibri" pitchFamily="34" charset="-120"/>
              </a:rPr>
              <a:t>Re-run: η = 0.1, no warmup</a:t>
            </a:r>
            <a:endParaRPr lang="en-US" sz="1500" dirty="0"/>
          </a:p>
        </p:txBody>
      </p:sp>
      <p:sp>
        <p:nvSpPr>
          <p:cNvPr id="8" name="Text 5"/>
          <p:cNvSpPr txBox="1"/>
          <p:nvPr/>
        </p:nvSpPr>
        <p:spPr>
          <a:xfrm>
            <a:off x="8092440" y="2148840"/>
            <a:ext cx="3322015" cy="10972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ticket lost to random reinit at 50% kept (86.0% vs 90.0%), then diverged at 25%. Its step-100 sharpness was ~2.4× the reinit's (16.0 vs 6.7; S ≈ 0.42 vs 0.18).</a:t>
            </a:r>
            <a:endParaRPr lang="en-US" sz="1300" dirty="0"/>
          </a:p>
        </p:txBody>
      </p:sp>
      <p:sp>
        <p:nvSpPr>
          <p:cNvPr id="9" name="Shape 6"/>
          <p:cNvSpPr/>
          <p:nvPr/>
        </p:nvSpPr>
        <p:spPr>
          <a:xfrm>
            <a:off x="7863840" y="3520440"/>
            <a:ext cx="3779215" cy="1188720"/>
          </a:xfrm>
          <a:prstGeom prst="roundRect">
            <a:avLst>
              <a:gd name="adj" fmla="val 9231"/>
            </a:avLst>
          </a:prstGeom>
          <a:solidFill>
            <a:srgbClr val="F3F5F9"/>
          </a:solidFill>
          <a:ln/>
        </p:spPr>
      </p:sp>
      <p:sp>
        <p:nvSpPr>
          <p:cNvPr id="10" name="Text 7"/>
          <p:cNvSpPr txBox="1"/>
          <p:nvPr/>
        </p:nvSpPr>
        <p:spPr>
          <a:xfrm>
            <a:off x="8092440" y="3685032"/>
            <a:ext cx="3322015" cy="32004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Sharpness at init</a:t>
            </a:r>
            <a:endParaRPr lang="en-US" sz="1500" dirty="0"/>
          </a:p>
        </p:txBody>
      </p:sp>
      <p:sp>
        <p:nvSpPr>
          <p:cNvPr id="11" name="Text 8"/>
          <p:cNvSpPr txBox="1"/>
          <p:nvPr/>
        </p:nvSpPr>
        <p:spPr>
          <a:xfrm>
            <a:off x="8092440" y="4023360"/>
            <a:ext cx="3322015" cy="594360"/>
          </a:xfrm>
          <a:prstGeom prst="rect">
            <a:avLst/>
          </a:prstGeom>
          <a:noFill/>
          <a:ln/>
        </p:spPr>
        <p:txBody>
          <a:bodyPr wrap="square" lIns="0" tIns="0" rIns="0" bIns="0" rtlCol="0" anchor="t"/>
          <a:lstStyle/>
          <a:p>
            <a:pPr indent="0" marL="0">
              <a:buNone/>
            </a:pPr>
            <a:r>
              <a:rPr lang="en-US" sz="1300" dirty="0">
                <a:solidFill>
                  <a:srgbClr val="14213D"/>
                </a:solidFill>
                <a:latin typeface="Calibri" pitchFamily="34" charset="0"/>
                <a:ea typeface="Calibri" pitchFamily="34" charset="-122"/>
                <a:cs typeface="Calibri" pitchFamily="34" charset="-120"/>
              </a:rPr>
              <a:t>λmax fell from 0.84 (dense) to 0.11–0.20 at the sparsest masks, in both pilots</a:t>
            </a:r>
            <a:endParaRPr lang="en-US" sz="1300" dirty="0"/>
          </a:p>
        </p:txBody>
      </p:sp>
      <p:sp>
        <p:nvSpPr>
          <p:cNvPr id="12" name="Shape 9"/>
          <p:cNvSpPr/>
          <p:nvPr/>
        </p:nvSpPr>
        <p:spPr>
          <a:xfrm>
            <a:off x="7863840" y="4892040"/>
            <a:ext cx="3779215" cy="1188720"/>
          </a:xfrm>
          <a:prstGeom prst="roundRect">
            <a:avLst>
              <a:gd name="adj" fmla="val 9231"/>
            </a:avLst>
          </a:prstGeom>
          <a:solidFill>
            <a:srgbClr val="F3F5F9"/>
          </a:solidFill>
          <a:ln/>
        </p:spPr>
      </p:sp>
      <p:sp>
        <p:nvSpPr>
          <p:cNvPr id="13" name="Text 10"/>
          <p:cNvSpPr txBox="1"/>
          <p:nvPr/>
        </p:nvSpPr>
        <p:spPr>
          <a:xfrm>
            <a:off x="8092440" y="5056632"/>
            <a:ext cx="3322015" cy="32004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Correlation does not separate them</a:t>
            </a:r>
            <a:endParaRPr lang="en-US" sz="1500" dirty="0"/>
          </a:p>
        </p:txBody>
      </p:sp>
      <p:sp>
        <p:nvSpPr>
          <p:cNvPr id="14" name="Text 11"/>
          <p:cNvSpPr txBox="1"/>
          <p:nvPr/>
        </p:nvSpPr>
        <p:spPr>
          <a:xfrm>
            <a:off x="8092440" y="5394960"/>
            <a:ext cx="3322015" cy="594360"/>
          </a:xfrm>
          <a:prstGeom prst="rect">
            <a:avLst/>
          </a:prstGeom>
          <a:noFill/>
          <a:ln/>
        </p:spPr>
        <p:txBody>
          <a:bodyPr wrap="square" lIns="0" tIns="0" rIns="0" bIns="0" rtlCol="0" anchor="t"/>
          <a:lstStyle/>
          <a:p>
            <a:pPr indent="0" marL="0">
              <a:buNone/>
            </a:pPr>
            <a:r>
              <a:rPr lang="en-US" sz="1300" dirty="0">
                <a:solidFill>
                  <a:srgbClr val="14213D"/>
                </a:solidFill>
                <a:latin typeface="Calibri" pitchFamily="34" charset="0"/>
                <a:ea typeface="Calibri" pitchFamily="34" charset="-122"/>
                <a:cs typeface="Calibri" pitchFamily="34" charset="-120"/>
              </a:rPr>
              <a:t>Winning and losing tickets had the same overlap, R0.2 ≈ 0.2 (chance level)</a:t>
            </a:r>
            <a:endParaRPr lang="en-US" sz="1300" dirty="0"/>
          </a:p>
        </p:txBody>
      </p:sp>
      <p:sp>
        <p:nvSpPr>
          <p:cNvPr id="15" name="Text 12"/>
          <p:cNvSpPr txBox="1"/>
          <p:nvPr/>
        </p:nvSpPr>
        <p:spPr>
          <a:xfrm>
            <a:off x="548640" y="6263640"/>
            <a:ext cx="10545775" cy="320040"/>
          </a:xfrm>
          <a:prstGeom prst="rect">
            <a:avLst/>
          </a:prstGeom>
          <a:noFill/>
          <a:ln/>
        </p:spPr>
        <p:txBody>
          <a:bodyPr wrap="square" lIns="0" tIns="0" rIns="0" bIns="0" rtlCol="0" anchor="b"/>
          <a:lstStyle/>
          <a:p>
            <a:pPr indent="0" marL="0">
              <a:buNone/>
            </a:pPr>
            <a:r>
              <a:rPr lang="en-US" sz="1100" dirty="0">
                <a:solidFill>
                  <a:srgbClr val="5A6478"/>
                </a:solidFill>
                <a:latin typeface="Calibri" pitchFamily="34" charset="0"/>
                <a:ea typeface="Calibri" pitchFamily="34" charset="-122"/>
                <a:cs typeface="Calibri" pitchFamily="34" charset="-120"/>
              </a:rPr>
              <a:t>Pilots: Conv-4 on Fashion-MNIST, CPU, 1 seed, short schedules. Directional only. GPU re-runs in progress.</a:t>
            </a:r>
            <a:endParaRPr lang="en-US" sz="1100" dirty="0"/>
          </a:p>
        </p:txBody>
      </p:sp>
      <p:sp>
        <p:nvSpPr>
          <p:cNvPr id="16" name="Text 13"/>
          <p:cNvSpPr txBox="1"/>
          <p:nvPr/>
        </p:nvSpPr>
        <p:spPr>
          <a:xfrm>
            <a:off x="11185855" y="6263640"/>
            <a:ext cx="457200" cy="320040"/>
          </a:xfrm>
          <a:prstGeom prst="rect">
            <a:avLst/>
          </a:prstGeom>
          <a:noFill/>
          <a:ln/>
        </p:spPr>
        <p:txBody>
          <a:bodyPr wrap="square" lIns="0" tIns="0" rIns="0" bIns="0" rtlCol="0" anchor="b"/>
          <a:lstStyle/>
          <a:p>
            <a:pPr algn="r" indent="0" marL="0">
              <a:buNone/>
            </a:pPr>
            <a:r>
              <a:rPr lang="en-US" sz="1100" dirty="0">
                <a:solidFill>
                  <a:srgbClr val="5A6478"/>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274320"/>
          </a:xfrm>
          <a:prstGeom prst="rect">
            <a:avLst/>
          </a:prstGeom>
          <a:noFill/>
          <a:ln/>
        </p:spPr>
        <p:txBody>
          <a:bodyPr wrap="square" lIns="0" tIns="0" rIns="0" bIns="0" rtlCol="0" anchor="t"/>
          <a:lstStyle/>
          <a:p>
            <a:pPr indent="0" marL="0">
              <a:buNone/>
            </a:pPr>
            <a:r>
              <a:rPr lang="en-US" sz="1200" b="1" spc="300" kern="0" dirty="0">
                <a:solidFill>
                  <a:srgbClr val="B5651D"/>
                </a:solidFill>
                <a:latin typeface="Calibri" pitchFamily="34" charset="0"/>
                <a:ea typeface="Calibri" pitchFamily="34" charset="-122"/>
                <a:cs typeface="Calibri" pitchFamily="34" charset="-120"/>
              </a:rPr>
              <a:t>FURTHER PLAN</a:t>
            </a:r>
            <a:endParaRPr lang="en-US" sz="1200" dirty="0"/>
          </a:p>
        </p:txBody>
      </p:sp>
      <p:sp>
        <p:nvSpPr>
          <p:cNvPr id="3" name="Text 1"/>
          <p:cNvSpPr txBox="1"/>
          <p:nvPr/>
        </p:nvSpPr>
        <p:spPr>
          <a:xfrm>
            <a:off x="548640" y="731520"/>
            <a:ext cx="11094415" cy="68580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Main objective: explain why warmup rescues lottery tickets</a:t>
            </a:r>
            <a:endParaRPr lang="en-US" sz="2800" dirty="0"/>
          </a:p>
        </p:txBody>
      </p:sp>
      <p:sp>
        <p:nvSpPr>
          <p:cNvPr id="4" name="Shape 2"/>
          <p:cNvSpPr/>
          <p:nvPr/>
        </p:nvSpPr>
        <p:spPr>
          <a:xfrm>
            <a:off x="548640" y="1600200"/>
            <a:ext cx="3545738" cy="3931920"/>
          </a:xfrm>
          <a:prstGeom prst="roundRect">
            <a:avLst>
              <a:gd name="adj" fmla="val 3095"/>
            </a:avLst>
          </a:prstGeom>
          <a:solidFill>
            <a:srgbClr val="F3F5F9"/>
          </a:solidFill>
          <a:ln/>
        </p:spPr>
      </p:sp>
      <p:sp>
        <p:nvSpPr>
          <p:cNvPr id="5" name="Text 3"/>
          <p:cNvSpPr txBox="1"/>
          <p:nvPr/>
        </p:nvSpPr>
        <p:spPr>
          <a:xfrm>
            <a:off x="777240" y="1801368"/>
            <a:ext cx="3088538" cy="45720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Challenges addressed</a:t>
            </a:r>
            <a:endParaRPr lang="en-US" sz="1800" dirty="0"/>
          </a:p>
        </p:txBody>
      </p:sp>
      <p:sp>
        <p:nvSpPr>
          <p:cNvPr id="6" name="Text 4"/>
          <p:cNvSpPr txBox="1"/>
          <p:nvPr/>
        </p:nvSpPr>
        <p:spPr>
          <a:xfrm>
            <a:off x="777240" y="2377440"/>
            <a:ext cx="3088538" cy="29718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4213D"/>
                </a:solidFill>
                <a:latin typeface="Calibri" pitchFamily="34" charset="0"/>
                <a:ea typeface="Calibri" pitchFamily="34" charset="-122"/>
                <a:cs typeface="Calibri" pitchFamily="34" charset="-120"/>
              </a:rPr>
              <a:t>Baseline collapse → BatchNorm model + shuffled-θ0 baseline</a:t>
            </a:r>
            <a:endParaRPr lang="en-US" sz="1400" dirty="0"/>
          </a:p>
          <a:p>
            <a:pPr marL="342900" indent="-342900">
              <a:spcAft>
                <a:spcPts val="1000"/>
              </a:spcAft>
              <a:buSzPct val="100000"/>
              <a:buChar char="•"/>
            </a:pPr>
            <a:r>
              <a:rPr lang="en-US" sz="1400" dirty="0">
                <a:solidFill>
                  <a:srgbClr val="14213D"/>
                </a:solidFill>
                <a:latin typeface="Calibri" pitchFamily="34" charset="0"/>
                <a:ea typeface="Calibri" pitchFamily="34" charset="-122"/>
                <a:cs typeface="Calibri" pitchFamily="34" charset="-120"/>
              </a:rPr>
              <a:t>Noisy λmax → full trajectory, max S(t)</a:t>
            </a:r>
            <a:endParaRPr lang="en-US" sz="1400" dirty="0"/>
          </a:p>
          <a:p>
            <a:pPr marL="342900" indent="-342900">
              <a:spcAft>
                <a:spcPts val="1000"/>
              </a:spcAft>
              <a:buSzPct val="100000"/>
              <a:buChar char="•"/>
            </a:pPr>
            <a:r>
              <a:rPr lang="en-US" sz="1400" dirty="0">
                <a:solidFill>
                  <a:srgbClr val="14213D"/>
                </a:solidFill>
                <a:latin typeface="Calibri" pitchFamily="34" charset="0"/>
                <a:ea typeface="Calibri" pitchFamily="34" charset="-122"/>
                <a:cs typeface="Calibri" pitchFamily="34" charset="-120"/>
              </a:rPr>
              <a:t>Negative eigenvalue → shifted power iteration</a:t>
            </a:r>
            <a:endParaRPr lang="en-US" sz="1400" dirty="0"/>
          </a:p>
          <a:p>
            <a:pPr marL="342900" indent="-342900">
              <a:spcAft>
                <a:spcPts val="1000"/>
              </a:spcAft>
              <a:buSzPct val="100000"/>
              <a:buChar char="•"/>
            </a:pPr>
            <a:r>
              <a:rPr lang="en-US" sz="1400" dirty="0">
                <a:solidFill>
                  <a:srgbClr val="14213D"/>
                </a:solidFill>
                <a:latin typeface="Calibri" pitchFamily="34" charset="0"/>
                <a:ea typeface="Calibri" pitchFamily="34" charset="-122"/>
                <a:cs typeface="Calibri" pitchFamily="34" charset="-120"/>
              </a:rPr>
              <a:t>Limited GPU time → 30%/round, 15k iterations, masks reused for H4</a:t>
            </a:r>
            <a:endParaRPr lang="en-US" sz="1400" dirty="0"/>
          </a:p>
          <a:p>
            <a:pPr marL="342900" indent="-342900">
              <a:spcAft>
                <a:spcPts val="1000"/>
              </a:spcAft>
              <a:buSzPct val="100000"/>
              <a:buChar char="•"/>
            </a:pPr>
            <a:r>
              <a:rPr lang="en-US" sz="1400" dirty="0">
                <a:solidFill>
                  <a:srgbClr val="14213D"/>
                </a:solidFill>
                <a:latin typeface="Calibri" pitchFamily="34" charset="0"/>
                <a:ea typeface="Calibri" pitchFamily="34" charset="-122"/>
                <a:cs typeface="Calibri" pitchFamily="34" charset="-120"/>
              </a:rPr>
              <a:t>Ticket divergence → stop the chain, keep the last good mask</a:t>
            </a:r>
            <a:endParaRPr lang="en-US" sz="1400" dirty="0"/>
          </a:p>
        </p:txBody>
      </p:sp>
      <p:sp>
        <p:nvSpPr>
          <p:cNvPr id="7" name="Shape 5"/>
          <p:cNvSpPr/>
          <p:nvPr/>
        </p:nvSpPr>
        <p:spPr>
          <a:xfrm>
            <a:off x="4322978" y="1600200"/>
            <a:ext cx="3545738" cy="3931920"/>
          </a:xfrm>
          <a:prstGeom prst="roundRect">
            <a:avLst>
              <a:gd name="adj" fmla="val 3095"/>
            </a:avLst>
          </a:prstGeom>
          <a:solidFill>
            <a:srgbClr val="F3F5F9"/>
          </a:solidFill>
          <a:ln/>
        </p:spPr>
      </p:sp>
      <p:sp>
        <p:nvSpPr>
          <p:cNvPr id="8" name="Text 6"/>
          <p:cNvSpPr txBox="1"/>
          <p:nvPr/>
        </p:nvSpPr>
        <p:spPr>
          <a:xfrm>
            <a:off x="4551578" y="1801368"/>
            <a:ext cx="3088538" cy="45720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Planned experiments</a:t>
            </a:r>
            <a:endParaRPr lang="en-US" sz="1800" dirty="0"/>
          </a:p>
        </p:txBody>
      </p:sp>
      <p:sp>
        <p:nvSpPr>
          <p:cNvPr id="9" name="Text 7"/>
          <p:cNvSpPr txBox="1"/>
          <p:nvPr/>
        </p:nvSpPr>
        <p:spPr>
          <a:xfrm>
            <a:off x="4551578" y="2377440"/>
            <a:ext cx="3088538" cy="29718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4213D"/>
                </a:solidFill>
                <a:latin typeface="Calibri" pitchFamily="34" charset="0"/>
                <a:ea typeface="Calibri" pitchFamily="34" charset="-122"/>
                <a:cs typeface="Calibri" pitchFamily="34" charset="-120"/>
              </a:rPr>
              <a:t>Phase A (~7 GPU-h): cheap Conv-4 S(t) trajectory run to de-risk H2, then low, high, warm03, high_warm on ResNet-20; gate: replicate Frankle</a:t>
            </a:r>
            <a:endParaRPr lang="en-US" sz="1400" dirty="0"/>
          </a:p>
          <a:p>
            <a:pPr marL="342900" indent="-342900">
              <a:spcAft>
                <a:spcPts val="1000"/>
              </a:spcAft>
              <a:buSzPct val="100000"/>
              <a:buChar char="•"/>
            </a:pPr>
            <a:r>
              <a:rPr lang="en-US" sz="1400" dirty="0">
                <a:solidFill>
                  <a:srgbClr val="14213D"/>
                </a:solidFill>
                <a:latin typeface="Calibri" pitchFamily="34" charset="0"/>
                <a:ea typeface="Calibri" pitchFamily="34" charset="-122"/>
                <a:cs typeface="Calibri" pitchFamily="34" charset="-120"/>
              </a:rPr>
              <a:t>Phase B (~8 GPU-h): 2nd seed + H4 fixed-mask test (SAM vs L2-anchor)</a:t>
            </a:r>
            <a:endParaRPr lang="en-US" sz="1400" dirty="0"/>
          </a:p>
          <a:p>
            <a:pPr marL="342900" indent="-342900">
              <a:spcAft>
                <a:spcPts val="1000"/>
              </a:spcAft>
              <a:buSzPct val="100000"/>
              <a:buChar char="•"/>
            </a:pPr>
            <a:r>
              <a:rPr lang="en-US" sz="1400" dirty="0">
                <a:solidFill>
                  <a:srgbClr val="14213D"/>
                </a:solidFill>
                <a:latin typeface="Calibri" pitchFamily="34" charset="0"/>
                <a:ea typeface="Calibri" pitchFamily="34" charset="-122"/>
                <a:cs typeface="Calibri" pitchFamily="34" charset="-120"/>
              </a:rPr>
              <a:t>Reserve (~3 GPU-h): reruns</a:t>
            </a:r>
            <a:endParaRPr lang="en-US" sz="1400" dirty="0"/>
          </a:p>
        </p:txBody>
      </p:sp>
      <p:sp>
        <p:nvSpPr>
          <p:cNvPr id="10" name="Shape 8"/>
          <p:cNvSpPr/>
          <p:nvPr/>
        </p:nvSpPr>
        <p:spPr>
          <a:xfrm>
            <a:off x="8097317" y="1600200"/>
            <a:ext cx="3545738" cy="3931920"/>
          </a:xfrm>
          <a:prstGeom prst="roundRect">
            <a:avLst>
              <a:gd name="adj" fmla="val 3095"/>
            </a:avLst>
          </a:prstGeom>
          <a:solidFill>
            <a:srgbClr val="14213D"/>
          </a:solidFill>
          <a:ln/>
        </p:spPr>
      </p:sp>
      <p:sp>
        <p:nvSpPr>
          <p:cNvPr id="11" name="Text 9"/>
          <p:cNvSpPr txBox="1"/>
          <p:nvPr/>
        </p:nvSpPr>
        <p:spPr>
          <a:xfrm>
            <a:off x="8325917" y="1801368"/>
            <a:ext cx="3088538" cy="45720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Desired outcomes</a:t>
            </a:r>
            <a:endParaRPr lang="en-US" sz="1800" dirty="0"/>
          </a:p>
        </p:txBody>
      </p:sp>
      <p:sp>
        <p:nvSpPr>
          <p:cNvPr id="12" name="Text 10"/>
          <p:cNvSpPr txBox="1"/>
          <p:nvPr/>
        </p:nvSpPr>
        <p:spPr>
          <a:xfrm>
            <a:off x="8325917" y="2377440"/>
            <a:ext cx="3088538" cy="29718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E3E8F0"/>
                </a:solidFill>
                <a:latin typeface="Calibri" pitchFamily="34" charset="0"/>
                <a:ea typeface="Calibri" pitchFamily="34" charset="-122"/>
                <a:cs typeface="Calibri" pitchFamily="34" charset="-120"/>
              </a:rPr>
              <a:t>Phase diagram: sparsity × LR, with the S = 1 boundary</a:t>
            </a:r>
            <a:endParaRPr lang="en-US" sz="1400" dirty="0"/>
          </a:p>
          <a:p>
            <a:pPr marL="342900" indent="-342900">
              <a:spcAft>
                <a:spcPts val="1000"/>
              </a:spcAft>
              <a:buSzPct val="100000"/>
              <a:buChar char="•"/>
            </a:pPr>
            <a:r>
              <a:rPr lang="en-US" sz="1400" dirty="0">
                <a:solidFill>
                  <a:srgbClr val="E3E8F0"/>
                </a:solidFill>
                <a:latin typeface="Calibri" pitchFamily="34" charset="0"/>
                <a:ea typeface="Calibri" pitchFamily="34" charset="-122"/>
                <a:cs typeface="Calibri" pitchFamily="34" charset="-120"/>
              </a:rPr>
              <a:t>Verdict on sharpness vs correlation (H4)</a:t>
            </a:r>
            <a:endParaRPr lang="en-US" sz="1400" dirty="0"/>
          </a:p>
          <a:p>
            <a:pPr marL="342900" indent="-342900">
              <a:spcAft>
                <a:spcPts val="1000"/>
              </a:spcAft>
              <a:buSzPct val="100000"/>
              <a:buChar char="•"/>
            </a:pPr>
            <a:r>
              <a:rPr lang="en-US" sz="1400" dirty="0">
                <a:solidFill>
                  <a:srgbClr val="E3E8F0"/>
                </a:solidFill>
                <a:latin typeface="Calibri" pitchFamily="34" charset="0"/>
                <a:ea typeface="Calibri" pitchFamily="34" charset="-122"/>
                <a:cs typeface="Calibri" pitchFamily="34" charset="-120"/>
              </a:rPr>
              <a:t>Rule of thumb: warmup length a ticket needs</a:t>
            </a:r>
            <a:endParaRPr lang="en-US" sz="1400" dirty="0"/>
          </a:p>
        </p:txBody>
      </p:sp>
      <p:sp>
        <p:nvSpPr>
          <p:cNvPr id="13" name="Text 11"/>
          <p:cNvSpPr txBox="1"/>
          <p:nvPr/>
        </p:nvSpPr>
        <p:spPr>
          <a:xfrm>
            <a:off x="548640" y="6263640"/>
            <a:ext cx="10545775" cy="320040"/>
          </a:xfrm>
          <a:prstGeom prst="rect">
            <a:avLst/>
          </a:prstGeom>
          <a:noFill/>
          <a:ln/>
        </p:spPr>
        <p:txBody>
          <a:bodyPr wrap="square" lIns="0" tIns="0" rIns="0" bIns="0" rtlCol="0" anchor="b"/>
          <a:lstStyle/>
          <a:p>
            <a:pPr indent="0" marL="0">
              <a:buNone/>
            </a:pPr>
            <a:r>
              <a:rPr lang="en-US" sz="1100" dirty="0">
                <a:solidFill>
                  <a:srgbClr val="5A6478"/>
                </a:solidFill>
                <a:latin typeface="Calibri" pitchFamily="34" charset="0"/>
                <a:ea typeface="Calibri" pitchFamily="34" charset="-122"/>
                <a:cs typeface="Calibri" pitchFamily="34" charset="-120"/>
              </a:rPr>
              <a:t>Compute: local RTX 4060 laptop (8 GB), ~18 GPU-hours; 30 T4-hours on Colab/Kaggle as fallback; &lt;1 GB storage.</a:t>
            </a:r>
            <a:endParaRPr lang="en-US" sz="1100" dirty="0"/>
          </a:p>
        </p:txBody>
      </p:sp>
      <p:sp>
        <p:nvSpPr>
          <p:cNvPr id="14" name="Text 12"/>
          <p:cNvSpPr txBox="1"/>
          <p:nvPr/>
        </p:nvSpPr>
        <p:spPr>
          <a:xfrm>
            <a:off x="11185855" y="6263640"/>
            <a:ext cx="457200" cy="320040"/>
          </a:xfrm>
          <a:prstGeom prst="rect">
            <a:avLst/>
          </a:prstGeom>
          <a:noFill/>
          <a:ln/>
        </p:spPr>
        <p:txBody>
          <a:bodyPr wrap="square" lIns="0" tIns="0" rIns="0" bIns="0" rtlCol="0" anchor="b"/>
          <a:lstStyle/>
          <a:p>
            <a:pPr algn="r" indent="0" marL="0">
              <a:buNone/>
            </a:pPr>
            <a:r>
              <a:rPr lang="en-US" sz="1100" dirty="0">
                <a:solidFill>
                  <a:srgbClr val="5A6478"/>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Do Lottery Tickets Need Learning-Rate Warmup?</dc:title>
  <dc:subject>PptxGenJS Presentation</dc:subject>
  <dc:creator>Nitai S Koundinya, Umair Ahmed Nawaz</dc:creator>
  <cp:lastModifiedBy>Nitai S Koundinya, Umair Ahmed Nawaz</cp:lastModifiedBy>
  <cp:revision>1</cp:revision>
  <dcterms:created xsi:type="dcterms:W3CDTF">2026-09-28T06:42:04Z</dcterms:created>
  <dcterms:modified xsi:type="dcterms:W3CDTF">2026-09-28T06:42:04Z</dcterms:modified>
</cp:coreProperties>
</file>