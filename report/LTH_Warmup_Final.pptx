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2A65A"/>
                </a:solidFill>
                <a:latin typeface="Calibri"/>
              </a:rPr>
              <a:t>MACHINE LEARNING · COURSE PROJECT · FINAL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241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Why Do Lottery Tickets Need Learning-Rate Warmup?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C9D3E3"/>
                </a:solidFill>
                <a:latin typeface="Calibri"/>
              </a:rPr>
              <a:t>We tested sharpness and weight correlation as explanations. Neither holds: high learning rates break the mask that pruning selects, not the training of a good mask.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749039"/>
            <a:ext cx="5413248" cy="1463040"/>
          </a:xfrm>
          <a:prstGeom prst="rect">
            <a:avLst/>
          </a:prstGeom>
          <a:solidFill>
            <a:srgbClr val="1F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3931920"/>
            <a:ext cx="4864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2A65A"/>
                </a:solidFill>
                <a:latin typeface="Calibri"/>
              </a:rPr>
              <a:t>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251960"/>
            <a:ext cx="48646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ResNet-20 · CIFAR-10 · iterative magnitude pruning to 6% of weights · 2 seeds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7" y="3749039"/>
            <a:ext cx="5413248" cy="1463040"/>
          </a:xfrm>
          <a:prstGeom prst="rect">
            <a:avLst/>
          </a:prstGeom>
          <a:solidFill>
            <a:srgbClr val="1F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7" y="3931920"/>
            <a:ext cx="4864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2A65A"/>
                </a:solidFill>
                <a:latin typeface="Calibri"/>
              </a:rP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7" y="4251960"/>
            <a:ext cx="48646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4 learning-rate conditions + a pre-registered causal test with the mask held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Nitai S Koundinya  ·  Umair Ahmed Nawaz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9FB0CC"/>
                </a:solidFill>
                <a:latin typeface="Calibri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2A65A"/>
                </a:solidFill>
                <a:latin typeface="Calibri"/>
              </a:rP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16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Cambria"/>
              </a:rPr>
              <a:t>Frankle &amp; Carbin (2019): deep networks yield winning tickets only at a small learning rate or with warmup. Is that because high-LR training crosses the stability limit (sharpness), or because it decorrelates weights from θ₀ (Liu et al. 2021)?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514600"/>
            <a:ext cx="5413248" cy="1371600"/>
          </a:xfrm>
          <a:prstGeom prst="rect">
            <a:avLst/>
          </a:prstGeom>
          <a:solidFill>
            <a:srgbClr val="1F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715768"/>
            <a:ext cx="4864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2A65A"/>
                </a:solidFill>
                <a:latin typeface="Calibri"/>
              </a:rPr>
              <a:t>H1 · Replicate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108960"/>
            <a:ext cx="48646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Tickets win at η = 0.01 and with warmup, lose at η = 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7" y="2514600"/>
            <a:ext cx="5413248" cy="1371600"/>
          </a:xfrm>
          <a:prstGeom prst="rect">
            <a:avLst/>
          </a:prstGeom>
          <a:solidFill>
            <a:srgbClr val="1F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7" y="2715768"/>
            <a:ext cx="4864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2A65A"/>
                </a:solidFill>
                <a:latin typeface="Calibri"/>
              </a:rPr>
              <a:t>H2 · Stability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7" y="3108960"/>
            <a:ext cx="48646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Tickets fail where S = η·λmax / (2+2β) reaches ≈ 1 early 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5413248" cy="1371600"/>
          </a:xfrm>
          <a:prstGeom prst="rect">
            <a:avLst/>
          </a:prstGeom>
          <a:solidFill>
            <a:srgbClr val="1F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315968"/>
            <a:ext cx="4864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2A65A"/>
                </a:solidFill>
                <a:latin typeface="Calibri"/>
              </a:rPr>
              <a:t>H3 · Warmup mechanism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709160"/>
            <a:ext cx="48646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Warmup keeps S below 1 as the ticket advantage returns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7" y="4114800"/>
            <a:ext cx="5413248" cy="1371600"/>
          </a:xfrm>
          <a:prstGeom prst="rect">
            <a:avLst/>
          </a:prstGeom>
          <a:solidFill>
            <a:srgbClr val="1F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7" y="4315968"/>
            <a:ext cx="4864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2A65A"/>
                </a:solidFill>
                <a:latin typeface="Calibri"/>
              </a:rPr>
              <a:t>H4 · Causal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7" y="4709160"/>
            <a:ext cx="48646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Fix good masks, train at η = 0.1: does SAM or an L2 anchor to θ₀ rescue them?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FB0CC"/>
                </a:solidFill>
                <a:latin typeface="Calibri"/>
              </a:rPr>
              <a:t>S = 1 is the edge of stability for SGD with heavy-ball momentum β = 0.9 (Cohen et al. 2021; Kalra &amp; Barkeshli 2024).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3112" y="62636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FB0C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5651D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4213D"/>
                </a:solidFill>
                <a:latin typeface="Cambria"/>
              </a:rPr>
              <a:t>Iterative magnitude pruning with a sharpness probe in every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828800" cy="9601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 · Init θ₀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21408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C9D3E3"/>
                </a:solidFill>
                <a:latin typeface="Calibri"/>
              </a:rPr>
              <a:t>saved exactly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2002536"/>
            <a:ext cx="274320" cy="256032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62072" y="1645920"/>
            <a:ext cx="1828800" cy="9601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173736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 · Train θ₀⊙m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121408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C9D3E3"/>
                </a:solidFill>
                <a:latin typeface="Calibri"/>
              </a:rPr>
              <a:t>15k steps, log λmax, 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2002536"/>
            <a:ext cx="274320" cy="256032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75503" y="1645920"/>
            <a:ext cx="1828800" cy="9601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12664" y="173736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 · Evaluate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2121408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C9D3E3"/>
                </a:solidFill>
                <a:latin typeface="Calibri"/>
              </a:rPr>
              <a:t>acc, F1, AUC, R₀.₂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14031" y="2002536"/>
            <a:ext cx="274320" cy="256032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88936" y="1645920"/>
            <a:ext cx="1828800" cy="9601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73736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 · Prune 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121408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C9D3E3"/>
                </a:solidFill>
                <a:latin typeface="Calibri"/>
              </a:rPr>
              <a:t>global magnitude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27463" y="2002536"/>
            <a:ext cx="274320" cy="256032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02367" y="1645920"/>
            <a:ext cx="1828800" cy="9601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9528" y="173736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5 · Reset to θ₀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9528" y="2121408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C9D3E3"/>
                </a:solidFill>
                <a:latin typeface="Calibri"/>
              </a:rPr>
              <a:t>repeat ×8 → 6%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8640" y="2880360"/>
          <a:ext cx="1109167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2377440"/>
                <a:gridCol w="5605272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η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Warmup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tickets expected to win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tickets expected to fail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warm03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linear, 10k steps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Frankle's successful ResNet setting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high_warm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linear, 10k steps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same peak rate as high, with warmup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48640" y="475488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478"/>
                </a:solidFill>
                <a:latin typeface="Calibri"/>
              </a:rPr>
              <a:t>Baselines at every mask: </a:t>
            </a:r>
            <a:r>
              <a:rPr sz="1300" b="0">
                <a:solidFill>
                  <a:srgbClr val="5A6478"/>
                </a:solidFill>
                <a:latin typeface="Calibri"/>
              </a:rPr>
              <a:t>random reinit and shuffled θ₀ (same layer-wise weights). </a:t>
            </a:r>
            <a:r>
              <a:rPr sz="1300" b="1">
                <a:solidFill>
                  <a:srgbClr val="5A6478"/>
                </a:solidFill>
                <a:latin typeface="Calibri"/>
              </a:rPr>
              <a:t>Ticket advantage</a:t>
            </a:r>
            <a:r>
              <a:rPr sz="1300" b="0">
                <a:solidFill>
                  <a:srgbClr val="5A6478"/>
                </a:solidFill>
                <a:latin typeface="Calibri"/>
              </a:rPr>
              <a:t> = ticket − best trained baseline. </a:t>
            </a:r>
            <a:r>
              <a:rPr sz="1300" b="1">
                <a:solidFill>
                  <a:srgbClr val="5A6478"/>
                </a:solidFill>
                <a:latin typeface="Calibri"/>
              </a:rPr>
              <a:t>Winning ticket</a:t>
            </a:r>
            <a:r>
              <a:rPr sz="1300" b="0">
                <a:solidFill>
                  <a:srgbClr val="5A6478"/>
                </a:solidFill>
                <a:latin typeface="Calibri"/>
              </a:rPr>
              <a:t> = advantage &gt; 0 (2 seeds: &gt; 2 SE) and accuracy within 0.5 pp of dense.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478"/>
                </a:solidFill>
                <a:latin typeface="Calibri"/>
              </a:rPr>
              <a:t>Sharpness: </a:t>
            </a:r>
            <a:r>
              <a:rPr sz="1300" b="0">
                <a:solidFill>
                  <a:srgbClr val="5A6478"/>
                </a:solidFill>
                <a:latin typeface="Calibri"/>
              </a:rPr>
              <a:t>λmax by 10-step Lanczos on 2,048 images, 15 points per run; H2 uses max S over steps 25–3,000. </a:t>
            </a:r>
            <a:r>
              <a:rPr sz="1300" b="1">
                <a:solidFill>
                  <a:srgbClr val="5A6478"/>
                </a:solidFill>
                <a:latin typeface="Calibri"/>
              </a:rPr>
              <a:t>Correlation: </a:t>
            </a:r>
            <a:r>
              <a:rPr sz="1300" b="0">
                <a:solidFill>
                  <a:srgbClr val="5A6478"/>
                </a:solidFill>
                <a:latin typeface="Calibri"/>
              </a:rPr>
              <a:t>R₀.₂ = overlap of the top-20% weights of θ₀ and θ_T (chance ≈ 0.2).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ResNet-20 (0.27 M params) · SGD momentum 0.9 · batch 128 · LR ×0.1 at 10k and 12.5k · one T4 GPU, 3 runs in parallel under MPS.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3112" y="62636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5651D"/>
                </a:solidFill>
                <a:latin typeface="Calibri"/>
              </a:rPr>
              <a:t>H1 · REPLICATION  —  SUPPORTED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4213D"/>
                </a:solidFill>
                <a:latin typeface="Cambria"/>
              </a:rPr>
              <a:t>Tickets win everywhere except at η = 0.1 without warmup</a:t>
            </a:r>
          </a:p>
        </p:txBody>
      </p:sp>
      <p:pic>
        <p:nvPicPr>
          <p:cNvPr id="4" name="Picture 3" descr="adva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406640" cy="336254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92440" y="1600200"/>
            <a:ext cx="3547872" cy="21488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78308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4213D"/>
                </a:solidFill>
                <a:latin typeface="Cambria"/>
              </a:rPr>
              <a:t>Two seeds agree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258568"/>
            <a:ext cx="309067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low: +2.1 → +6.3 pp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warm03: +2.0 → +6.4 pp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high: ≤ +0.5 pp, tickets 0.8–7.2 pp below dense: 0/4 winning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3931920"/>
            <a:ext cx="3547872" cy="21031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11480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</a:rPr>
              <a:t>Warmup restores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590288"/>
            <a:ext cx="309067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3E8F0"/>
                </a:solidFill>
                <a:latin typeface="Calibri"/>
              </a:rPr>
              <a:t>Same peak η = 0.1 with warmup (high_warm): +1.5 → +5.9 pp, 3/4 winning.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3E8F0"/>
                </a:solidFill>
                <a:latin typeface="Calibri"/>
              </a:rPr>
              <a:t>Dense high is the most accurate network (89.7%), so this is not a weak baseline.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Advantage = ticket − best trained baseline at the same mask. Bands: ± 1 SE over seeds. Gate A passed on both seeds.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2" y="62636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5651D"/>
                </a:solidFill>
                <a:latin typeface="Calibri"/>
              </a:rPr>
              <a:t>RESULTS · TEST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4213D"/>
                </a:solidFill>
                <a:latin typeface="Cambria"/>
              </a:rPr>
              <a:t>Dense networks and tickets at 34.5% and 6.0% of weights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91672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37360"/>
                <a:gridCol w="1828800"/>
                <a:gridCol w="1554480"/>
                <a:gridCol w="1463040"/>
                <a:gridCol w="1371600"/>
                <a:gridCol w="1490472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Accuracy 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Precision 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Recall 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F1 %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dense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86.57 ± 0.13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86.59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86.57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86.56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0.9894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ticket 34.5%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88.00 ± 0.18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87.99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88.00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87.98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0.9915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ticket 6.0%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86.18 ± 0.06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86.15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86.18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86.12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0.9888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dense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89.69 ± 0.20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89.66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89.69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89.67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0.9933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ticket 34.5%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88.23 ± 0.18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88.21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88.23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88.20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0.9918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ticket 6.0%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82.54 ± 0.25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82.48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82.54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82.46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0.9830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warm03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dense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87.64 ± 0.23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87.62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87.64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87.62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0.9907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ticket 34.5%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88.79 ± 0.37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88.77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88.79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88.76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0.9925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ticket 6.0%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87.43 ± 0.60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87.40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87.43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87.38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0.9907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high_warm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dense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89.46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89.49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89.46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89.46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0.9932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ticket 34.5%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90.30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90.30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90.30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90.29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0.9943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ticket 6.0%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88.35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88.39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88.35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88.35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213D"/>
                          </a:solidFill>
                          <a:latin typeface="Calibri"/>
                        </a:rPr>
                        <a:t>0.9924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63640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Test set, 10,000 images · macro precision / recall / F1 · macro one-vs-rest ROC-AUC · mean ± SD over 2 seeds (high_warm: 1 seed).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2636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5651D"/>
                </a:solidFill>
                <a:latin typeface="Calibri"/>
              </a:rPr>
              <a:t>H2 · STABILITY RATIO  —  NOT SUPPORTED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4213D"/>
                </a:solidFill>
                <a:latin typeface="Cambria"/>
              </a:rPr>
              <a:t>No ticket comes near the stability limit</a:t>
            </a:r>
          </a:p>
        </p:txBody>
      </p:sp>
      <p:pic>
        <p:nvPicPr>
          <p:cNvPr id="4" name="Picture 3" descr="max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223760" cy="417640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92440" y="1600200"/>
            <a:ext cx="3547872" cy="23317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78308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4213D"/>
                </a:solidFill>
                <a:latin typeface="Cambria"/>
              </a:rPr>
              <a:t>What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258568"/>
            <a:ext cx="30906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Max S over 105 runs is 0.54; failing tickets peak at 0.16–0.54.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Within a condition S does not order the tickets (high: ρ = +0.26).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4114800"/>
            <a:ext cx="3547872" cy="19202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29768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</a:rPr>
              <a:t>What 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773168"/>
            <a:ext cx="30906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3E8F0"/>
                </a:solidFill>
                <a:latin typeface="Calibri"/>
              </a:rPr>
              <a:t>Only the failing condition has an early spike (max at step 25 in 15/18). Correlation, not yet cause.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Caveat: with momentum the step-0 threshold is 2/λ (Kalra &amp; Barkeshli 2024); dense high starts above it and still trains normally.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2" y="62636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5651D"/>
                </a:solidFill>
                <a:latin typeface="Calibri"/>
              </a:rPr>
              <a:t>H3 · WARMUP MECHANISM  —  PARTLY SUPPORTED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4213D"/>
                </a:solidFill>
                <a:latin typeface="Cambria"/>
              </a:rPr>
              <a:t>Warmup removes the spike, but that is not what it fixes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3547872" cy="32918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4213D"/>
                </a:solidFill>
                <a:latin typeface="Cambria"/>
              </a:rPr>
              <a:t>The coincidence 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5651D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58568"/>
            <a:ext cx="3090672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At η = 0.1, warmup brings the advantage back: 3/4 winning vs 0/4.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It removes the step-25 spike: S ≤ 0.003 vs 0.13–0.54.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5112" y="1600200"/>
            <a:ext cx="3547872" cy="32918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8308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4213D"/>
                </a:solidFill>
                <a:latin typeface="Cambria"/>
              </a:rPr>
              <a:t>S &lt; 1 does not discriminate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78308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5651D"/>
                </a:solidFill>
                <a:latin typeface="Calibri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258568"/>
            <a:ext cx="3090672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high also stays below 1.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By step 9,000 both runs sit on the same plateau: λmax 1.1–1.7, S 0.03–0.04.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Warmup first lets λmax grow (25 → 53), as Kalra &amp; Barkeshli predict.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1583" y="1600200"/>
            <a:ext cx="3547872" cy="32918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178308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</a:rPr>
              <a:t>Confounded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2258568"/>
            <a:ext cx="3090672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E3E8F0"/>
                </a:solidFill>
                <a:latin typeface="Calibri"/>
              </a:rPr>
              <a:t>Warmup also keeps more weight correlation (dense R₀.₂ 0.33 vs 0.25).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E3E8F0"/>
                </a:solidFill>
                <a:latin typeface="Calibri"/>
              </a:rPr>
              <a:t>It halves the mean LR over the first 10k steps.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E3E8F0"/>
                </a:solidFill>
                <a:latin typeface="Calibri"/>
              </a:rPr>
              <a:t>Only fixing the mask separates these. → H4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4213D"/>
                </a:solidFill>
                <a:latin typeface="Calibri"/>
              </a:rPr>
              <a:t>Warmup changes three things at once: </a:t>
            </a:r>
            <a:r>
              <a:rPr sz="1600" b="0">
                <a:solidFill>
                  <a:srgbClr val="14213D"/>
                </a:solidFill>
                <a:latin typeface="Calibri"/>
              </a:rPr>
              <a:t>the early sharpness spike, weight correlation and the mean learning rate. Phase A cannot say which one matters.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63640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high_warm: seed 0 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3112" y="62636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5651D"/>
                </a:solidFill>
                <a:latin typeface="Calibri"/>
              </a:rPr>
              <a:t>H4 · CAUSAL TEST  — 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4213D"/>
                </a:solidFill>
                <a:latin typeface="Cambria"/>
              </a:rPr>
              <a:t>Hold warmup's good masks fixed and change only the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3547872" cy="21945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4213D"/>
                </a:solidFill>
                <a:latin typeface="Cambria"/>
              </a:rPr>
              <a:t>(a) 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58568"/>
            <a:ext cx="30906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η = 0.1, no warmup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Does a good mask still win under high-LR training?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5112" y="1600200"/>
            <a:ext cx="3547872" cy="21945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78308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4213D"/>
                </a:solidFill>
                <a:latin typeface="Cambria"/>
              </a:rPr>
              <a:t>(b) SAM, ρ = 0.05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2258568"/>
            <a:ext cx="30906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Lowers sharpness, leaves correlation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Rescue here → sharpness 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1583" y="1600200"/>
            <a:ext cx="3547872" cy="219456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0183" y="178308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4213D"/>
                </a:solidFill>
                <a:latin typeface="Cambria"/>
              </a:rPr>
              <a:t>(c) L2 anchor to θ₀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0183" y="2258568"/>
            <a:ext cx="30906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(λ/2)·‖m⊙(θ − θ₀)‖², λ = 0.01 (chosen to match low's R₀.₂)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Rescue here → correlation 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11091672" cy="16002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2A65A"/>
                </a:solidFill>
                <a:latin typeface="Calibri"/>
              </a:rPr>
              <a:t>PRE-REGISTERED RULE (committed before any H4 result)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Rescue = ticket − shuffle ≥ +2.0 pp at ≥ 2 of 3 masks, and the intervention must move its target variable vs (a).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Masks: warm03 seed 0 at 34.5%, 12.0%, 6.0%. The failing high chain never exceeds +0.7 pp, so the bar is well above failure.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Each mask trained as ticket (θ₀⊙m) and shuffle (θ₀ permuted within each layer over the mask): 18 trainings, SAM at 2×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3112" y="62636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5651D"/>
                </a:solidFill>
                <a:latin typeface="Calibri"/>
              </a:rPr>
              <a:t>H4 ·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4213D"/>
                </a:solidFill>
                <a:latin typeface="Cambria"/>
              </a:rPr>
              <a:t>The good masks already win at η = 0.1. There is nothing to rescue</a:t>
            </a:r>
          </a:p>
        </p:txBody>
      </p:sp>
      <p:pic>
        <p:nvPicPr>
          <p:cNvPr id="4" name="Picture 3" descr="h4_interven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223760" cy="441493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92440" y="1600200"/>
            <a:ext cx="3547872" cy="146304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78308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4213D"/>
                </a:solidFill>
                <a:latin typeface="Cambria"/>
              </a:rPr>
              <a:t>(a) plain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78308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5651D"/>
                </a:solidFill>
                <a:latin typeface="Calibri"/>
              </a:rPr>
              <a:t>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258568"/>
            <a:ext cx="3090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+3.6 and +4.8 pp: 2/3 over the bar.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3200400"/>
            <a:ext cx="3547872" cy="132588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38328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4213D"/>
                </a:solidFill>
                <a:latin typeface="Cambria"/>
              </a:rPr>
              <a:t>(b) 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38328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5651D"/>
                </a:solidFill>
                <a:latin typeface="Calibri"/>
              </a:rPr>
              <a:t>NO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858768"/>
            <a:ext cx="3090672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S lowered at 3/3 masks; advantage moves ≤ 0.5 pp.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4663440"/>
            <a:ext cx="3547872" cy="13716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84632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</a:rPr>
              <a:t>(c) anchor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84632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2A65A"/>
                </a:solidFill>
                <a:latin typeface="Calibri"/>
              </a:rPr>
              <a:t>HURTS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321807"/>
            <a:ext cx="3090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3E8F0"/>
                </a:solidFill>
                <a:latin typeface="Calibri"/>
              </a:rPr>
              <a:t>Ticket −3 pp, shuffle −10 pp vs (a). Not a better ticket.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63640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Seed 0. Ticket accuracy, (a): 89.27 / 88.91 / 87.24%.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3112" y="62636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5651D"/>
                </a:solidFill>
                <a:latin typeface="Calibri"/>
              </a:rPr>
              <a:t>H4 ·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4213D"/>
                </a:solidFill>
                <a:latin typeface="Cambria"/>
              </a:rPr>
              <a:t>Same training, different mask: the mask decides</a:t>
            </a:r>
          </a:p>
        </p:txBody>
      </p:sp>
      <p:pic>
        <p:nvPicPr>
          <p:cNvPr id="4" name="Picture 3" descr="h4_m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223760" cy="398037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92440" y="1600200"/>
            <a:ext cx="3547872" cy="25146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78308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4213D"/>
                </a:solidFill>
                <a:latin typeface="Cambria"/>
              </a:rPr>
              <a:t>Under identical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258568"/>
            <a:ext cx="3090672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η = 0.1, no warmup, same θ₀: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warm03's 6% mask 87.2%, high's own 6% mask 82.7%.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Shuffled controls equal (82.4 vs 82.2%).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4297680"/>
            <a:ext cx="3547872" cy="17373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480560"/>
            <a:ext cx="30906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</a:rPr>
              <a:t>Both stories 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956048"/>
            <a:ext cx="3090672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3E8F0"/>
                </a:solidFill>
                <a:latin typeface="Calibri"/>
              </a:rPr>
              <a:t>Spike present (S 0.24–0.34) and R₀.₂ at chance (0.18–0.20), yet the ticket wins.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high and warm03 seed 0 share θ₀ bit for bit: the green and orange lines differ only in the mask, the orange and violet only in warmup.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2" y="62636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5651D"/>
                </a:solidFill>
                <a:latin typeface="Calibri"/>
              </a:rPr>
              <a:t>FOLLOW-UPS · PRE-REGISTERED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4213D"/>
                </a:solidFill>
                <a:latin typeface="Cambria"/>
              </a:rPr>
              <a:t>Does it replicate, and does warmup rescue a bad mask?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9167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371600"/>
                <a:gridCol w="1371600"/>
                <a:gridCol w="1371600"/>
                <a:gridCol w="1280160"/>
                <a:gridCol w="2130552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34.5%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12.0%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6.0%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≥ +2 pp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(a) seed 0  · warm03 mask, η 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+0.89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+3.59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+4.80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2/3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wins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F1 · (a) on seed 1 masks + θ₀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0/0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high chain · own masks, η 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+0.39*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+0.57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0/2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fails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F2 · high's masks + warmup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0/0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13D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3931920"/>
            <a:ext cx="5413248" cy="21031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49560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4213D"/>
                </a:solidFill>
                <a:latin typeface="Cambria"/>
              </a:rPr>
              <a:t>F1 · replication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90288"/>
            <a:ext cx="495604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Same experiment as (a) on an independent seed: warm03 seed 1's masks and θ₀.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Advantage pending / pending / pending pp → pending.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8" y="3931920"/>
            <a:ext cx="5413248" cy="21031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4114800"/>
            <a:ext cx="49560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</a:rPr>
              <a:t>F2 · reverse swap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4590288"/>
            <a:ext cx="495604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3E8F0"/>
                </a:solidFill>
                <a:latin typeface="Calibri"/>
              </a:rPr>
              <a:t>high's own masks, trained with warmup at η = 0.1 (high_warm schedule).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3E8F0"/>
                </a:solidFill>
                <a:latin typeface="Calibri"/>
              </a:rPr>
              <a:t>Ticket pending / pending / pending% vs 88.36 / 85.52 / 82.72% without warmup → pending.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Ticket − shuffle (pp). *high chain at 12.0%: vs reinit (no shuffle run there). Rule as in H4, fixed before the runs started.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2" y="62636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2A65A"/>
                </a:solidFill>
                <a:latin typeface="Calibri"/>
              </a:rPr>
              <a:t>VERDICTS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High learning rates break the mask, not the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5413248" cy="1645920"/>
          </a:xfrm>
          <a:prstGeom prst="rect">
            <a:avLst/>
          </a:prstGeom>
          <a:solidFill>
            <a:srgbClr val="1F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029968"/>
            <a:ext cx="4864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H1 · Replicate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4864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2A65A"/>
                </a:solidFill>
                <a:latin typeface="Calibri"/>
              </a:rPr>
              <a:t>SUPPORTED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14600"/>
            <a:ext cx="48646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C9D3E3"/>
                </a:solidFill>
                <a:latin typeface="Calibri"/>
              </a:rPr>
              <a:t>2 seeds: +2 to +6.4 pp at η 0.01 / warmup; ≤ +0.5 pp at η 0.1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7" y="1828800"/>
            <a:ext cx="5413248" cy="1645920"/>
          </a:xfrm>
          <a:prstGeom prst="rect">
            <a:avLst/>
          </a:prstGeom>
          <a:solidFill>
            <a:srgbClr val="1F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7" y="2029968"/>
            <a:ext cx="4864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H2 · Stability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7" y="2057400"/>
            <a:ext cx="4864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2A65A"/>
                </a:solidFill>
                <a:latin typeface="Calibri"/>
              </a:rPr>
              <a:t>NOT 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7" y="2514600"/>
            <a:ext cx="48646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C9D3E3"/>
                </a:solidFill>
                <a:latin typeface="Calibri"/>
              </a:rPr>
              <a:t>max S 0.54 ≪ 1; the early spike is not causal (H4)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5413248" cy="1645920"/>
          </a:xfrm>
          <a:prstGeom prst="rect">
            <a:avLst/>
          </a:prstGeom>
          <a:solidFill>
            <a:srgbClr val="1F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904487"/>
            <a:ext cx="4864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H3 · Warmup mechanism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931920"/>
            <a:ext cx="4864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2A65A"/>
                </a:solidFill>
                <a:latin typeface="Calibri"/>
              </a:rPr>
              <a:t>PARTLY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389120"/>
            <a:ext cx="48646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C9D3E3"/>
                </a:solidFill>
                <a:latin typeface="Calibri"/>
              </a:rPr>
              <a:t>Coincidence holds; a good mask needs no warmup to train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7" y="3703320"/>
            <a:ext cx="5413248" cy="1645920"/>
          </a:xfrm>
          <a:prstGeom prst="rect">
            <a:avLst/>
          </a:prstGeom>
          <a:solidFill>
            <a:srgbClr val="1F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7" y="3904487"/>
            <a:ext cx="4864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H4 · Causal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3931920"/>
            <a:ext cx="4864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2A65A"/>
                </a:solidFill>
                <a:latin typeface="Calibri"/>
              </a:rPr>
              <a:t>MASK, NOT DYNAMICS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7" y="4389120"/>
            <a:ext cx="48646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C9D3E3"/>
                </a:solidFill>
                <a:latin typeface="Calibri"/>
              </a:rPr>
              <a:t>Good masks win at η 0.1; SAM no effect; anchor hurts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10543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FB0CC"/>
                </a:solidFill>
                <a:latin typeface="Calibri"/>
              </a:rPr>
              <a:t>Fits Paul et al. (2023): an IMP mask encodes the training run that produced it. Warmup matters while the mask is being found.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3112" y="62636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9FB0C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5651D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16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4213D"/>
                </a:solidFill>
                <a:latin typeface="Cambria"/>
              </a:rPr>
              <a:t>What this study cannot say yet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5413248" cy="3749039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49560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4213D"/>
                </a:solidFill>
                <a:latin typeface="Cambria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58568"/>
            <a:ext cx="4956048" cy="2926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Seeds: 2 for the main conditions, 1 for high_warm, SAM and the anchor.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Good masks at η = 0.1 still sit 0.6–2.6 pp below dense: some LR cost survives.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Shortened protocol: 15k steps, 30% per round, no rewinding, one model and dataset.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Sharpness at 15 points per run; the minibatch stability threshold was not measured.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14213D"/>
                </a:solidFill>
                <a:latin typeface="Calibri"/>
              </a:rPr>
              <a:t>One strength each for SAM (ρ 0.05) and the anchor (λ 0.01).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8" y="1600200"/>
            <a:ext cx="5413248" cy="3749039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8" y="1783080"/>
            <a:ext cx="49560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258568"/>
            <a:ext cx="4956048" cy="2926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E3E8F0"/>
                </a:solidFill>
                <a:latin typeface="Calibri"/>
              </a:rPr>
              <a:t>Switch η mid-chain to find the IMP round where masks go bad.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E3E8F0"/>
                </a:solidFill>
                <a:latin typeface="Calibri"/>
              </a:rPr>
              <a:t>Compare high vs warm03 masks directly: layer-wise density, overlap.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E3E8F0"/>
                </a:solidFill>
                <a:latin typeface="Calibri"/>
              </a:rPr>
              <a:t>Learning-rate rewinding (Frankle et al. 2020), known to restore tickets at high η: does it work by fixing the mask?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3112" y="62636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2A65A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Lottery tickets fail at high learning rates because iterative magnitude pruning picks worse masks, not because training becomes unstable or loses its correlation with θ₀.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9167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C9D3E3"/>
                </a:solidFill>
                <a:latin typeface="Calibri"/>
              </a:rPr>
              <a:t>A pre-registered causal test, with the mask held fixed, separated three explanations that the observational data could not.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C9D3E3"/>
                </a:solidFill>
                <a:latin typeface="Calibri"/>
              </a:rPr>
              <a:t>Code, configs, every run and both write-ups: github.com/kneat2448/LTH-ML-final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Nitai S Koundinya  ·  Umair Ahmed Nawaz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9FB0CC"/>
                </a:solidFill>
                <a:latin typeface="Calibri"/>
              </a:rPr>
              <a:t>Thank you ·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